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0" r:id="rId4"/>
  </p:sldMasterIdLst>
  <p:notesMasterIdLst>
    <p:notesMasterId r:id="rId17"/>
  </p:notesMasterIdLst>
  <p:sldIdLst>
    <p:sldId id="413" r:id="rId5"/>
    <p:sldId id="390" r:id="rId6"/>
    <p:sldId id="391" r:id="rId7"/>
    <p:sldId id="414" r:id="rId8"/>
    <p:sldId id="412" r:id="rId9"/>
    <p:sldId id="393" r:id="rId10"/>
    <p:sldId id="406" r:id="rId11"/>
    <p:sldId id="409" r:id="rId12"/>
    <p:sldId id="410" r:id="rId13"/>
    <p:sldId id="394" r:id="rId14"/>
    <p:sldId id="407" r:id="rId15"/>
    <p:sldId id="408" r:id="rId16"/>
  </p:sldIdLst>
  <p:sldSz cx="9144000" cy="6858000" type="screen4x3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2A84"/>
    <a:srgbClr val="401F68"/>
    <a:srgbClr val="3F1F68"/>
    <a:srgbClr val="ED5540"/>
    <a:srgbClr val="FFC622"/>
    <a:srgbClr val="00865B"/>
    <a:srgbClr val="7FCECD"/>
    <a:srgbClr val="5191CD"/>
    <a:srgbClr val="57B946"/>
    <a:srgbClr val="D9C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10" autoAdjust="0"/>
    <p:restoredTop sz="96047"/>
  </p:normalViewPr>
  <p:slideViewPr>
    <p:cSldViewPr snapToGrid="0" showGuides="1">
      <p:cViewPr>
        <p:scale>
          <a:sx n="121" d="100"/>
          <a:sy n="121" d="100"/>
        </p:scale>
        <p:origin x="1816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3" d="100"/>
        <a:sy n="12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F27C58-54DF-2045-8919-167593A6D636}" type="doc">
      <dgm:prSet loTypeId="urn:microsoft.com/office/officeart/2005/8/layout/vProcess5" loCatId="" qsTypeId="urn:microsoft.com/office/officeart/2005/8/quickstyle/simple2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0F068503-52F6-EB49-9C0A-A7CD7208D7EE}">
      <dgm:prSet phldrT="[Text]"/>
      <dgm:spPr/>
      <dgm:t>
        <a:bodyPr/>
        <a:lstStyle/>
        <a:p>
          <a:pPr algn="ctr">
            <a:buNone/>
          </a:pPr>
          <a:r>
            <a:rPr lang="en-US" b="0" dirty="0"/>
            <a:t>Synthetic medical-record data and user questions of varying difficulty were generated using Gemini 3.1 Pro.</a:t>
          </a:r>
        </a:p>
      </dgm:t>
    </dgm:pt>
    <dgm:pt modelId="{A743DC88-B047-AA45-8EFC-9D10A64138E7}" type="parTrans" cxnId="{420E610F-B289-7A40-BBEE-B658190B1E66}">
      <dgm:prSet/>
      <dgm:spPr/>
      <dgm:t>
        <a:bodyPr/>
        <a:lstStyle/>
        <a:p>
          <a:endParaRPr lang="en-US"/>
        </a:p>
      </dgm:t>
    </dgm:pt>
    <dgm:pt modelId="{9BB51674-5C8C-A64E-A762-D6E45611A739}" type="sibTrans" cxnId="{420E610F-B289-7A40-BBEE-B658190B1E66}">
      <dgm:prSet/>
      <dgm:spPr/>
      <dgm:t>
        <a:bodyPr/>
        <a:lstStyle/>
        <a:p>
          <a:endParaRPr lang="en-US"/>
        </a:p>
      </dgm:t>
    </dgm:pt>
    <dgm:pt modelId="{F7081DC5-BAA7-874D-881D-08BC9F34C298}">
      <dgm:prSet phldrT="[Text]"/>
      <dgm:spPr/>
      <dgm:t>
        <a:bodyPr/>
        <a:lstStyle/>
        <a:p>
          <a:pPr>
            <a:buNone/>
          </a:pPr>
          <a:r>
            <a:rPr lang="en-US" b="0" dirty="0"/>
            <a:t>Each model received the same system prompt, chart data, and user question for all 30 synthetic patient cases, enabling a controlled comparison.</a:t>
          </a:r>
        </a:p>
      </dgm:t>
    </dgm:pt>
    <dgm:pt modelId="{34CCF4AD-B224-104E-989B-1686AF32EE96}" type="parTrans" cxnId="{25558855-AF65-6C4D-A5F0-1F2C5558354D}">
      <dgm:prSet/>
      <dgm:spPr/>
      <dgm:t>
        <a:bodyPr/>
        <a:lstStyle/>
        <a:p>
          <a:endParaRPr lang="en-US"/>
        </a:p>
      </dgm:t>
    </dgm:pt>
    <dgm:pt modelId="{E5480DEB-92EC-9B4A-8C01-13F4490113EE}" type="sibTrans" cxnId="{25558855-AF65-6C4D-A5F0-1F2C5558354D}">
      <dgm:prSet/>
      <dgm:spPr/>
      <dgm:t>
        <a:bodyPr/>
        <a:lstStyle/>
        <a:p>
          <a:endParaRPr lang="en-US"/>
        </a:p>
      </dgm:t>
    </dgm:pt>
    <dgm:pt modelId="{32D89AD6-CB1C-0342-B5BE-C4100F871B62}">
      <dgm:prSet/>
      <dgm:spPr/>
      <dgm:t>
        <a:bodyPr/>
        <a:lstStyle/>
        <a:p>
          <a:pPr algn="ctr">
            <a:buNone/>
          </a:pPr>
          <a:r>
            <a:rPr lang="en-US" b="0" dirty="0"/>
            <a:t>Questions and chart contexts were reviewed by a human for relevance, clarity, and answerability.</a:t>
          </a:r>
        </a:p>
      </dgm:t>
    </dgm:pt>
    <dgm:pt modelId="{BFCB42D3-9A98-5848-A950-6A65EB23143A}" type="parTrans" cxnId="{9FB765B1-8FA2-8C47-9EC4-7C1F3F5E3419}">
      <dgm:prSet/>
      <dgm:spPr/>
      <dgm:t>
        <a:bodyPr/>
        <a:lstStyle/>
        <a:p>
          <a:endParaRPr lang="en-US"/>
        </a:p>
      </dgm:t>
    </dgm:pt>
    <dgm:pt modelId="{07EAE2C7-D1DE-E040-8077-2BB52645C54C}" type="sibTrans" cxnId="{9FB765B1-8FA2-8C47-9EC4-7C1F3F5E3419}">
      <dgm:prSet/>
      <dgm:spPr/>
      <dgm:t>
        <a:bodyPr/>
        <a:lstStyle/>
        <a:p>
          <a:endParaRPr lang="en-US"/>
        </a:p>
      </dgm:t>
    </dgm:pt>
    <dgm:pt modelId="{2D4FB3DD-464A-5247-A57F-CBEAA3E3ACB1}">
      <dgm:prSet phldrT="[Text]"/>
      <dgm:spPr/>
      <dgm:t>
        <a:bodyPr/>
        <a:lstStyle/>
        <a:p>
          <a:pPr>
            <a:buNone/>
          </a:pPr>
          <a:r>
            <a:rPr lang="en-US" b="0" dirty="0"/>
            <a:t>Three local models (Qwen 2.5 1.5B, Qwen 2.5 3B, and Llama 3.2 3B) and a reference model (Gemini 3.1 Pro) generated 120 total responses.</a:t>
          </a:r>
        </a:p>
      </dgm:t>
    </dgm:pt>
    <dgm:pt modelId="{CEEB0C59-CE1B-704F-9E79-1FB13852FE4E}" type="parTrans" cxnId="{5E772AA8-B375-EE4F-AD10-A8982689763D}">
      <dgm:prSet/>
      <dgm:spPr/>
      <dgm:t>
        <a:bodyPr/>
        <a:lstStyle/>
        <a:p>
          <a:endParaRPr lang="en-US"/>
        </a:p>
      </dgm:t>
    </dgm:pt>
    <dgm:pt modelId="{7168CF60-2EBE-5843-8623-E3DD42D394BE}" type="sibTrans" cxnId="{5E772AA8-B375-EE4F-AD10-A8982689763D}">
      <dgm:prSet/>
      <dgm:spPr/>
      <dgm:t>
        <a:bodyPr/>
        <a:lstStyle/>
        <a:p>
          <a:endParaRPr lang="en-US"/>
        </a:p>
      </dgm:t>
    </dgm:pt>
    <dgm:pt modelId="{29D637DD-63D3-224B-B7FC-026F6708A608}" type="pres">
      <dgm:prSet presAssocID="{97F27C58-54DF-2045-8919-167593A6D636}" presName="outerComposite" presStyleCnt="0">
        <dgm:presLayoutVars>
          <dgm:chMax val="5"/>
          <dgm:dir/>
          <dgm:resizeHandles val="exact"/>
        </dgm:presLayoutVars>
      </dgm:prSet>
      <dgm:spPr/>
    </dgm:pt>
    <dgm:pt modelId="{85DBC70A-9001-7449-B2B0-83F86761599B}" type="pres">
      <dgm:prSet presAssocID="{97F27C58-54DF-2045-8919-167593A6D636}" presName="dummyMaxCanvas" presStyleCnt="0">
        <dgm:presLayoutVars/>
      </dgm:prSet>
      <dgm:spPr/>
    </dgm:pt>
    <dgm:pt modelId="{562CF9D6-6228-B247-B122-AE231C6B280B}" type="pres">
      <dgm:prSet presAssocID="{97F27C58-54DF-2045-8919-167593A6D636}" presName="FourNodes_1" presStyleLbl="node1" presStyleIdx="0" presStyleCnt="4">
        <dgm:presLayoutVars>
          <dgm:bulletEnabled val="1"/>
        </dgm:presLayoutVars>
      </dgm:prSet>
      <dgm:spPr/>
    </dgm:pt>
    <dgm:pt modelId="{6083D925-5C4E-9C40-99D7-D04692C11612}" type="pres">
      <dgm:prSet presAssocID="{97F27C58-54DF-2045-8919-167593A6D636}" presName="FourNodes_2" presStyleLbl="node1" presStyleIdx="1" presStyleCnt="4">
        <dgm:presLayoutVars>
          <dgm:bulletEnabled val="1"/>
        </dgm:presLayoutVars>
      </dgm:prSet>
      <dgm:spPr/>
    </dgm:pt>
    <dgm:pt modelId="{306EAB0F-1C33-534A-8567-701AADA9C00F}" type="pres">
      <dgm:prSet presAssocID="{97F27C58-54DF-2045-8919-167593A6D636}" presName="FourNodes_3" presStyleLbl="node1" presStyleIdx="2" presStyleCnt="4">
        <dgm:presLayoutVars>
          <dgm:bulletEnabled val="1"/>
        </dgm:presLayoutVars>
      </dgm:prSet>
      <dgm:spPr/>
    </dgm:pt>
    <dgm:pt modelId="{9CF10300-D39F-C543-81A8-1DFDCD426C95}" type="pres">
      <dgm:prSet presAssocID="{97F27C58-54DF-2045-8919-167593A6D636}" presName="FourNodes_4" presStyleLbl="node1" presStyleIdx="3" presStyleCnt="4">
        <dgm:presLayoutVars>
          <dgm:bulletEnabled val="1"/>
        </dgm:presLayoutVars>
      </dgm:prSet>
      <dgm:spPr/>
    </dgm:pt>
    <dgm:pt modelId="{51812A87-23E2-7C41-95D0-723D42DAB95F}" type="pres">
      <dgm:prSet presAssocID="{97F27C58-54DF-2045-8919-167593A6D636}" presName="FourConn_1-2" presStyleLbl="fgAccFollowNode1" presStyleIdx="0" presStyleCnt="3">
        <dgm:presLayoutVars>
          <dgm:bulletEnabled val="1"/>
        </dgm:presLayoutVars>
      </dgm:prSet>
      <dgm:spPr/>
    </dgm:pt>
    <dgm:pt modelId="{41551416-4872-2947-8995-5519BB975B2E}" type="pres">
      <dgm:prSet presAssocID="{97F27C58-54DF-2045-8919-167593A6D636}" presName="FourConn_2-3" presStyleLbl="fgAccFollowNode1" presStyleIdx="1" presStyleCnt="3">
        <dgm:presLayoutVars>
          <dgm:bulletEnabled val="1"/>
        </dgm:presLayoutVars>
      </dgm:prSet>
      <dgm:spPr/>
    </dgm:pt>
    <dgm:pt modelId="{7AC3242E-B00B-CF44-A5F6-35210E6893D8}" type="pres">
      <dgm:prSet presAssocID="{97F27C58-54DF-2045-8919-167593A6D636}" presName="FourConn_3-4" presStyleLbl="fgAccFollowNode1" presStyleIdx="2" presStyleCnt="3">
        <dgm:presLayoutVars>
          <dgm:bulletEnabled val="1"/>
        </dgm:presLayoutVars>
      </dgm:prSet>
      <dgm:spPr/>
    </dgm:pt>
    <dgm:pt modelId="{74BD4906-E419-BC44-9305-E98848332C15}" type="pres">
      <dgm:prSet presAssocID="{97F27C58-54DF-2045-8919-167593A6D636}" presName="FourNodes_1_text" presStyleLbl="node1" presStyleIdx="3" presStyleCnt="4">
        <dgm:presLayoutVars>
          <dgm:bulletEnabled val="1"/>
        </dgm:presLayoutVars>
      </dgm:prSet>
      <dgm:spPr/>
    </dgm:pt>
    <dgm:pt modelId="{B804A9BC-DBA1-0B4D-8C81-6FE8F03EE48B}" type="pres">
      <dgm:prSet presAssocID="{97F27C58-54DF-2045-8919-167593A6D636}" presName="FourNodes_2_text" presStyleLbl="node1" presStyleIdx="3" presStyleCnt="4">
        <dgm:presLayoutVars>
          <dgm:bulletEnabled val="1"/>
        </dgm:presLayoutVars>
      </dgm:prSet>
      <dgm:spPr/>
    </dgm:pt>
    <dgm:pt modelId="{4FAA4A76-1A40-F444-A09B-626B838D31E3}" type="pres">
      <dgm:prSet presAssocID="{97F27C58-54DF-2045-8919-167593A6D636}" presName="FourNodes_3_text" presStyleLbl="node1" presStyleIdx="3" presStyleCnt="4">
        <dgm:presLayoutVars>
          <dgm:bulletEnabled val="1"/>
        </dgm:presLayoutVars>
      </dgm:prSet>
      <dgm:spPr/>
    </dgm:pt>
    <dgm:pt modelId="{FA64C6D7-9739-894B-BBAD-D15D1907C7C1}" type="pres">
      <dgm:prSet presAssocID="{97F27C58-54DF-2045-8919-167593A6D63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03F9802-45CD-D84C-A48B-6CB28F16E33C}" type="presOf" srcId="{E5480DEB-92EC-9B4A-8C01-13F4490113EE}" destId="{7AC3242E-B00B-CF44-A5F6-35210E6893D8}" srcOrd="0" destOrd="0" presId="urn:microsoft.com/office/officeart/2005/8/layout/vProcess5"/>
    <dgm:cxn modelId="{E7D49A04-1787-2347-9655-05A73B82D7CC}" type="presOf" srcId="{32D89AD6-CB1C-0342-B5BE-C4100F871B62}" destId="{B804A9BC-DBA1-0B4D-8C81-6FE8F03EE48B}" srcOrd="1" destOrd="0" presId="urn:microsoft.com/office/officeart/2005/8/layout/vProcess5"/>
    <dgm:cxn modelId="{A380E50C-7CBD-C042-8D67-4BD01EAD4E85}" type="presOf" srcId="{0F068503-52F6-EB49-9C0A-A7CD7208D7EE}" destId="{74BD4906-E419-BC44-9305-E98848332C15}" srcOrd="1" destOrd="0" presId="urn:microsoft.com/office/officeart/2005/8/layout/vProcess5"/>
    <dgm:cxn modelId="{420E610F-B289-7A40-BBEE-B658190B1E66}" srcId="{97F27C58-54DF-2045-8919-167593A6D636}" destId="{0F068503-52F6-EB49-9C0A-A7CD7208D7EE}" srcOrd="0" destOrd="0" parTransId="{A743DC88-B047-AA45-8EFC-9D10A64138E7}" sibTransId="{9BB51674-5C8C-A64E-A762-D6E45611A739}"/>
    <dgm:cxn modelId="{C0A3D713-9B09-A745-9233-5F9182BFDA61}" type="presOf" srcId="{0F068503-52F6-EB49-9C0A-A7CD7208D7EE}" destId="{562CF9D6-6228-B247-B122-AE231C6B280B}" srcOrd="0" destOrd="0" presId="urn:microsoft.com/office/officeart/2005/8/layout/vProcess5"/>
    <dgm:cxn modelId="{0D197442-17AD-8B44-8C2E-CB8B888D4137}" type="presOf" srcId="{32D89AD6-CB1C-0342-B5BE-C4100F871B62}" destId="{6083D925-5C4E-9C40-99D7-D04692C11612}" srcOrd="0" destOrd="0" presId="urn:microsoft.com/office/officeart/2005/8/layout/vProcess5"/>
    <dgm:cxn modelId="{25558855-AF65-6C4D-A5F0-1F2C5558354D}" srcId="{97F27C58-54DF-2045-8919-167593A6D636}" destId="{F7081DC5-BAA7-874D-881D-08BC9F34C298}" srcOrd="2" destOrd="0" parTransId="{34CCF4AD-B224-104E-989B-1686AF32EE96}" sibTransId="{E5480DEB-92EC-9B4A-8C01-13F4490113EE}"/>
    <dgm:cxn modelId="{7E129965-21E9-D548-99CB-07C7674E5AA1}" type="presOf" srcId="{2D4FB3DD-464A-5247-A57F-CBEAA3E3ACB1}" destId="{9CF10300-D39F-C543-81A8-1DFDCD426C95}" srcOrd="0" destOrd="0" presId="urn:microsoft.com/office/officeart/2005/8/layout/vProcess5"/>
    <dgm:cxn modelId="{5E772AA8-B375-EE4F-AD10-A8982689763D}" srcId="{97F27C58-54DF-2045-8919-167593A6D636}" destId="{2D4FB3DD-464A-5247-A57F-CBEAA3E3ACB1}" srcOrd="3" destOrd="0" parTransId="{CEEB0C59-CE1B-704F-9E79-1FB13852FE4E}" sibTransId="{7168CF60-2EBE-5843-8623-E3DD42D394BE}"/>
    <dgm:cxn modelId="{F0E131AF-2C55-7845-8033-A43237FF4E8A}" type="presOf" srcId="{F7081DC5-BAA7-874D-881D-08BC9F34C298}" destId="{306EAB0F-1C33-534A-8567-701AADA9C00F}" srcOrd="0" destOrd="0" presId="urn:microsoft.com/office/officeart/2005/8/layout/vProcess5"/>
    <dgm:cxn modelId="{9FB765B1-8FA2-8C47-9EC4-7C1F3F5E3419}" srcId="{97F27C58-54DF-2045-8919-167593A6D636}" destId="{32D89AD6-CB1C-0342-B5BE-C4100F871B62}" srcOrd="1" destOrd="0" parTransId="{BFCB42D3-9A98-5848-A950-6A65EB23143A}" sibTransId="{07EAE2C7-D1DE-E040-8077-2BB52645C54C}"/>
    <dgm:cxn modelId="{09AD12C1-6DFD-994E-8615-1129E5441239}" type="presOf" srcId="{97F27C58-54DF-2045-8919-167593A6D636}" destId="{29D637DD-63D3-224B-B7FC-026F6708A608}" srcOrd="0" destOrd="0" presId="urn:microsoft.com/office/officeart/2005/8/layout/vProcess5"/>
    <dgm:cxn modelId="{F6B853D6-0B19-5146-A54D-F2844AE3594E}" type="presOf" srcId="{2D4FB3DD-464A-5247-A57F-CBEAA3E3ACB1}" destId="{FA64C6D7-9739-894B-BBAD-D15D1907C7C1}" srcOrd="1" destOrd="0" presId="urn:microsoft.com/office/officeart/2005/8/layout/vProcess5"/>
    <dgm:cxn modelId="{AAE423D8-DBE0-B042-8AEA-A8A4656FA65D}" type="presOf" srcId="{07EAE2C7-D1DE-E040-8077-2BB52645C54C}" destId="{41551416-4872-2947-8995-5519BB975B2E}" srcOrd="0" destOrd="0" presId="urn:microsoft.com/office/officeart/2005/8/layout/vProcess5"/>
    <dgm:cxn modelId="{C99D79E9-9C1F-A940-8223-3B2550F36918}" type="presOf" srcId="{9BB51674-5C8C-A64E-A762-D6E45611A739}" destId="{51812A87-23E2-7C41-95D0-723D42DAB95F}" srcOrd="0" destOrd="0" presId="urn:microsoft.com/office/officeart/2005/8/layout/vProcess5"/>
    <dgm:cxn modelId="{C111B1F5-E5E8-D447-93FB-39F52136D7A4}" type="presOf" srcId="{F7081DC5-BAA7-874D-881D-08BC9F34C298}" destId="{4FAA4A76-1A40-F444-A09B-626B838D31E3}" srcOrd="1" destOrd="0" presId="urn:microsoft.com/office/officeart/2005/8/layout/vProcess5"/>
    <dgm:cxn modelId="{73935E84-4B5A-B646-B0B6-567681ADF362}" type="presParOf" srcId="{29D637DD-63D3-224B-B7FC-026F6708A608}" destId="{85DBC70A-9001-7449-B2B0-83F86761599B}" srcOrd="0" destOrd="0" presId="urn:microsoft.com/office/officeart/2005/8/layout/vProcess5"/>
    <dgm:cxn modelId="{544FDD7D-A75D-C045-B3C8-2EF12BBEBCDA}" type="presParOf" srcId="{29D637DD-63D3-224B-B7FC-026F6708A608}" destId="{562CF9D6-6228-B247-B122-AE231C6B280B}" srcOrd="1" destOrd="0" presId="urn:microsoft.com/office/officeart/2005/8/layout/vProcess5"/>
    <dgm:cxn modelId="{286CBC84-A5B6-5346-9807-64D1A9ABDD3F}" type="presParOf" srcId="{29D637DD-63D3-224B-B7FC-026F6708A608}" destId="{6083D925-5C4E-9C40-99D7-D04692C11612}" srcOrd="2" destOrd="0" presId="urn:microsoft.com/office/officeart/2005/8/layout/vProcess5"/>
    <dgm:cxn modelId="{EF269655-B01A-C941-9987-D5342AEDFF07}" type="presParOf" srcId="{29D637DD-63D3-224B-B7FC-026F6708A608}" destId="{306EAB0F-1C33-534A-8567-701AADA9C00F}" srcOrd="3" destOrd="0" presId="urn:microsoft.com/office/officeart/2005/8/layout/vProcess5"/>
    <dgm:cxn modelId="{CED8EA96-33A6-6E4A-9BFA-F9E58B0B0493}" type="presParOf" srcId="{29D637DD-63D3-224B-B7FC-026F6708A608}" destId="{9CF10300-D39F-C543-81A8-1DFDCD426C95}" srcOrd="4" destOrd="0" presId="urn:microsoft.com/office/officeart/2005/8/layout/vProcess5"/>
    <dgm:cxn modelId="{CE33729B-F927-0C4A-A9A7-FA162DA4C6C1}" type="presParOf" srcId="{29D637DD-63D3-224B-B7FC-026F6708A608}" destId="{51812A87-23E2-7C41-95D0-723D42DAB95F}" srcOrd="5" destOrd="0" presId="urn:microsoft.com/office/officeart/2005/8/layout/vProcess5"/>
    <dgm:cxn modelId="{9CEE9139-31BF-2143-8132-27B806C8B93F}" type="presParOf" srcId="{29D637DD-63D3-224B-B7FC-026F6708A608}" destId="{41551416-4872-2947-8995-5519BB975B2E}" srcOrd="6" destOrd="0" presId="urn:microsoft.com/office/officeart/2005/8/layout/vProcess5"/>
    <dgm:cxn modelId="{89F10937-CF14-0A45-B404-CD07E36D5A4C}" type="presParOf" srcId="{29D637DD-63D3-224B-B7FC-026F6708A608}" destId="{7AC3242E-B00B-CF44-A5F6-35210E6893D8}" srcOrd="7" destOrd="0" presId="urn:microsoft.com/office/officeart/2005/8/layout/vProcess5"/>
    <dgm:cxn modelId="{3C059ACE-7048-6742-B219-69ECB8FACC31}" type="presParOf" srcId="{29D637DD-63D3-224B-B7FC-026F6708A608}" destId="{74BD4906-E419-BC44-9305-E98848332C15}" srcOrd="8" destOrd="0" presId="urn:microsoft.com/office/officeart/2005/8/layout/vProcess5"/>
    <dgm:cxn modelId="{4C99BC8D-DB99-1542-A968-D71762FAFA05}" type="presParOf" srcId="{29D637DD-63D3-224B-B7FC-026F6708A608}" destId="{B804A9BC-DBA1-0B4D-8C81-6FE8F03EE48B}" srcOrd="9" destOrd="0" presId="urn:microsoft.com/office/officeart/2005/8/layout/vProcess5"/>
    <dgm:cxn modelId="{F2864503-FA2E-7240-A661-AF374A8F7ABD}" type="presParOf" srcId="{29D637DD-63D3-224B-B7FC-026F6708A608}" destId="{4FAA4A76-1A40-F444-A09B-626B838D31E3}" srcOrd="10" destOrd="0" presId="urn:microsoft.com/office/officeart/2005/8/layout/vProcess5"/>
    <dgm:cxn modelId="{527FB185-5F76-E24C-B46C-78CD4C602E59}" type="presParOf" srcId="{29D637DD-63D3-224B-B7FC-026F6708A608}" destId="{FA64C6D7-9739-894B-BBAD-D15D1907C7C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2CF9D6-6228-B247-B122-AE231C6B280B}">
      <dsp:nvSpPr>
        <dsp:cNvPr id="0" name=""/>
        <dsp:cNvSpPr/>
      </dsp:nvSpPr>
      <dsp:spPr>
        <a:xfrm>
          <a:off x="0" y="0"/>
          <a:ext cx="6871970" cy="96288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Synthetic medical-record data and user questions of varying difficulty were generated using Gemini 3.1 Pro.</a:t>
          </a:r>
        </a:p>
      </dsp:txBody>
      <dsp:txXfrm>
        <a:off x="28202" y="28202"/>
        <a:ext cx="5751581" cy="906478"/>
      </dsp:txXfrm>
    </dsp:sp>
    <dsp:sp modelId="{6083D925-5C4E-9C40-99D7-D04692C11612}">
      <dsp:nvSpPr>
        <dsp:cNvPr id="0" name=""/>
        <dsp:cNvSpPr/>
      </dsp:nvSpPr>
      <dsp:spPr>
        <a:xfrm>
          <a:off x="575527" y="1137951"/>
          <a:ext cx="6871970" cy="96288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Questions and chart contexts were reviewed by a human for relevance, clarity, and answerability.</a:t>
          </a:r>
        </a:p>
      </dsp:txBody>
      <dsp:txXfrm>
        <a:off x="603729" y="1166153"/>
        <a:ext cx="5614165" cy="906478"/>
      </dsp:txXfrm>
    </dsp:sp>
    <dsp:sp modelId="{306EAB0F-1C33-534A-8567-701AADA9C00F}">
      <dsp:nvSpPr>
        <dsp:cNvPr id="0" name=""/>
        <dsp:cNvSpPr/>
      </dsp:nvSpPr>
      <dsp:spPr>
        <a:xfrm>
          <a:off x="1142465" y="2275903"/>
          <a:ext cx="6871970" cy="96288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Each model received the same system prompt, chart data, and user question for all 30 synthetic patient cases, enabling a controlled comparison.</a:t>
          </a:r>
        </a:p>
      </dsp:txBody>
      <dsp:txXfrm>
        <a:off x="1170667" y="2304105"/>
        <a:ext cx="5622755" cy="906478"/>
      </dsp:txXfrm>
    </dsp:sp>
    <dsp:sp modelId="{9CF10300-D39F-C543-81A8-1DFDCD426C95}">
      <dsp:nvSpPr>
        <dsp:cNvPr id="0" name=""/>
        <dsp:cNvSpPr/>
      </dsp:nvSpPr>
      <dsp:spPr>
        <a:xfrm>
          <a:off x="1717992" y="3413854"/>
          <a:ext cx="6871970" cy="96288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Three local models (Qwen 2.5 1.5B, Qwen 2.5 3B, and Llama 3.2 3B) and a reference model (Gemini 3.1 Pro) generated 120 total responses.</a:t>
          </a:r>
        </a:p>
      </dsp:txBody>
      <dsp:txXfrm>
        <a:off x="1746194" y="3442056"/>
        <a:ext cx="5614165" cy="906478"/>
      </dsp:txXfrm>
    </dsp:sp>
    <dsp:sp modelId="{51812A87-23E2-7C41-95D0-723D42DAB95F}">
      <dsp:nvSpPr>
        <dsp:cNvPr id="0" name=""/>
        <dsp:cNvSpPr/>
      </dsp:nvSpPr>
      <dsp:spPr>
        <a:xfrm>
          <a:off x="6246097" y="737480"/>
          <a:ext cx="625873" cy="62587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386918" y="737480"/>
        <a:ext cx="344231" cy="470969"/>
      </dsp:txXfrm>
    </dsp:sp>
    <dsp:sp modelId="{41551416-4872-2947-8995-5519BB975B2E}">
      <dsp:nvSpPr>
        <dsp:cNvPr id="0" name=""/>
        <dsp:cNvSpPr/>
      </dsp:nvSpPr>
      <dsp:spPr>
        <a:xfrm>
          <a:off x="6821624" y="1875431"/>
          <a:ext cx="625873" cy="62587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962445" y="1875431"/>
        <a:ext cx="344231" cy="470969"/>
      </dsp:txXfrm>
    </dsp:sp>
    <dsp:sp modelId="{7AC3242E-B00B-CF44-A5F6-35210E6893D8}">
      <dsp:nvSpPr>
        <dsp:cNvPr id="0" name=""/>
        <dsp:cNvSpPr/>
      </dsp:nvSpPr>
      <dsp:spPr>
        <a:xfrm>
          <a:off x="7388562" y="3013383"/>
          <a:ext cx="625873" cy="62587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529383" y="3013383"/>
        <a:ext cx="344231" cy="4709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6F302-C2A4-DD49-A872-2BB2B3F2F0AF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9966F-DF03-C541-8CA6-08220F085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7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-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CC80DDE-5F41-EE3C-EB7B-9FBEFB63CCB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E1DC21C-4F9E-0208-0F33-5EDF26C2E74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7466" t="-148" r="7377" b="148"/>
          <a:stretch/>
        </p:blipFill>
        <p:spPr>
          <a:xfrm>
            <a:off x="1908058" y="-1"/>
            <a:ext cx="7237934" cy="6858000"/>
          </a:xfrm>
          <a:prstGeom prst="rect">
            <a:avLst/>
          </a:prstGeom>
        </p:spPr>
      </p:pic>
      <p:pic>
        <p:nvPicPr>
          <p:cNvPr id="8" name="Picture 7" descr="A black and purple rectangle&#10;&#10;Description automatically generated">
            <a:extLst>
              <a:ext uri="{FF2B5EF4-FFF2-40B4-BE49-F238E27FC236}">
                <a16:creationId xmlns:a16="http://schemas.microsoft.com/office/drawing/2014/main" id="{698B5895-ED31-F534-FBC8-F8EAF2BE72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26250"/>
          <a:stretch/>
        </p:blipFill>
        <p:spPr>
          <a:xfrm>
            <a:off x="0" y="0"/>
            <a:ext cx="67437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814" y="2176272"/>
            <a:ext cx="4674487" cy="2387600"/>
          </a:xfrm>
        </p:spPr>
        <p:txBody>
          <a:bodyPr anchor="b"/>
          <a:lstStyle>
            <a:lvl1pPr algn="l">
              <a:defRPr sz="4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812" y="4617720"/>
            <a:ext cx="6262688" cy="806099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E824A5-746D-85C5-A198-2205E97BEC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483" y="6049351"/>
            <a:ext cx="2291216" cy="379777"/>
          </a:xfrm>
        </p:spPr>
        <p:txBody>
          <a:bodyPr>
            <a:noAutofit/>
          </a:bodyPr>
          <a:lstStyle>
            <a:lvl1pPr>
              <a:defRPr sz="1800" b="0" i="0">
                <a:solidFill>
                  <a:schemeClr val="bg1"/>
                </a:solidFill>
                <a:latin typeface="+mn-lt"/>
              </a:defRPr>
            </a:lvl1pPr>
            <a:lvl2pPr>
              <a:defRPr sz="800" b="0" i="0">
                <a:latin typeface="Aptos Light" panose="020B0004020202020204" pitchFamily="34" charset="0"/>
              </a:defRPr>
            </a:lvl2pPr>
            <a:lvl3pPr marL="6350" indent="0">
              <a:buNone/>
              <a:defRPr sz="800" b="0" i="0">
                <a:latin typeface="Aptos Light" panose="020B0004020202020204" pitchFamily="34" charset="0"/>
              </a:defRPr>
            </a:lvl3pPr>
            <a:lvl4pPr marL="174621" indent="0">
              <a:buNone/>
              <a:defRPr sz="800" b="0" i="0">
                <a:latin typeface="Aptos Light" panose="020B0004020202020204" pitchFamily="34" charset="0"/>
              </a:defRPr>
            </a:lvl4pPr>
            <a:lvl5pPr marL="344479" indent="0">
              <a:buNone/>
              <a:defRPr sz="800" b="0" i="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 dirty="0"/>
              <a:t>Date goes here</a:t>
            </a:r>
          </a:p>
        </p:txBody>
      </p:sp>
      <p:pic>
        <p:nvPicPr>
          <p:cNvPr id="5" name="Picture 4" descr="A close-up of a black background&#10;&#10;Description automatically generated">
            <a:extLst>
              <a:ext uri="{FF2B5EF4-FFF2-40B4-BE49-F238E27FC236}">
                <a16:creationId xmlns:a16="http://schemas.microsoft.com/office/drawing/2014/main" id="{BAC3D0DB-49C5-F566-6021-DD0715714F9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4909" y="313267"/>
            <a:ext cx="1666494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58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CC80DDE-5F41-EE3C-EB7B-9FBEFB63CCB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" name="Picture 6" descr="A black and purple rectangle&#10;&#10;Description automatically generated">
            <a:extLst>
              <a:ext uri="{FF2B5EF4-FFF2-40B4-BE49-F238E27FC236}">
                <a16:creationId xmlns:a16="http://schemas.microsoft.com/office/drawing/2014/main" id="{F8189EB8-ABA9-C994-0266-747B17E89C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6250"/>
          <a:stretch/>
        </p:blipFill>
        <p:spPr>
          <a:xfrm>
            <a:off x="0" y="0"/>
            <a:ext cx="67437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814" y="2505665"/>
            <a:ext cx="4554438" cy="2387600"/>
          </a:xfrm>
        </p:spPr>
        <p:txBody>
          <a:bodyPr anchor="b"/>
          <a:lstStyle>
            <a:lvl1pPr algn="l">
              <a:defRPr sz="4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814" y="4945704"/>
            <a:ext cx="4554440" cy="806099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5613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142" y="0"/>
            <a:ext cx="8590221" cy="1143000"/>
          </a:xfrm>
        </p:spPr>
        <p:txBody>
          <a:bodyPr/>
          <a:lstStyle>
            <a:lvl1pPr>
              <a:lnSpc>
                <a:spcPct val="90000"/>
              </a:lnSpc>
              <a:defRPr spc="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142" y="1960537"/>
            <a:ext cx="8590221" cy="4376468"/>
          </a:xfrm>
        </p:spPr>
        <p:txBody>
          <a:bodyPr/>
          <a:lstStyle>
            <a:lvl1pPr>
              <a:lnSpc>
                <a:spcPct val="114000"/>
              </a:lnSpc>
              <a:spcAft>
                <a:spcPts val="300"/>
              </a:spcAft>
              <a:defRPr sz="1350"/>
            </a:lvl1pPr>
            <a:lvl2pPr>
              <a:lnSpc>
                <a:spcPct val="114000"/>
              </a:lnSpc>
              <a:spcAft>
                <a:spcPts val="450"/>
              </a:spcAft>
              <a:defRPr/>
            </a:lvl2pPr>
            <a:lvl3pPr>
              <a:lnSpc>
                <a:spcPct val="114000"/>
              </a:lnSpc>
              <a:spcAft>
                <a:spcPts val="450"/>
              </a:spcAft>
              <a:defRPr/>
            </a:lvl3pPr>
            <a:lvl4pPr>
              <a:lnSpc>
                <a:spcPct val="114000"/>
              </a:lnSpc>
              <a:spcAft>
                <a:spcPts val="450"/>
              </a:spcAft>
              <a:defRPr/>
            </a:lvl4pPr>
            <a:lvl5pPr>
              <a:lnSpc>
                <a:spcPct val="114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D5A83BB-9D8E-880B-93F2-512308F059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401" y="1170433"/>
            <a:ext cx="8590220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500" b="0" i="0">
                <a:latin typeface="+mn-lt"/>
              </a:defRPr>
            </a:lvl1pPr>
            <a:lvl3pPr marL="6350" indent="0">
              <a:buNone/>
              <a:defRPr/>
            </a:lvl3pPr>
            <a:lvl4pPr marL="174621" indent="0">
              <a:buNone/>
              <a:defRPr/>
            </a:lvl4pPr>
            <a:lvl5pPr marL="344479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724F641B-1C8C-A657-2A4F-9946CE9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9980" y="6583478"/>
            <a:ext cx="373281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698" b="1">
                <a:solidFill>
                  <a:schemeClr val="bg1"/>
                </a:solidFill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378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  <p15:guide id="7" orient="horz" pos="2160" userDrawn="1">
          <p15:clr>
            <a:srgbClr val="FBAE40"/>
          </p15:clr>
        </p15:guide>
        <p15:guide id="8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s-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90000"/>
              </a:lnSpc>
              <a:defRPr spc="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142" y="1956816"/>
            <a:ext cx="4169664" cy="4456684"/>
          </a:xfrm>
        </p:spPr>
        <p:txBody>
          <a:bodyPr/>
          <a:lstStyle>
            <a:lvl1pPr>
              <a:lnSpc>
                <a:spcPct val="114000"/>
              </a:lnSpc>
              <a:spcAft>
                <a:spcPts val="300"/>
              </a:spcAft>
              <a:defRPr sz="1350"/>
            </a:lvl1pPr>
            <a:lvl2pPr>
              <a:lnSpc>
                <a:spcPct val="114000"/>
              </a:lnSpc>
              <a:spcAft>
                <a:spcPts val="450"/>
              </a:spcAft>
              <a:defRPr/>
            </a:lvl2pPr>
            <a:lvl3pPr>
              <a:lnSpc>
                <a:spcPct val="114000"/>
              </a:lnSpc>
              <a:spcAft>
                <a:spcPts val="450"/>
              </a:spcAft>
              <a:defRPr/>
            </a:lvl3pPr>
            <a:lvl4pPr>
              <a:lnSpc>
                <a:spcPct val="114000"/>
              </a:lnSpc>
              <a:spcAft>
                <a:spcPts val="450"/>
              </a:spcAft>
              <a:defRPr/>
            </a:lvl4pPr>
            <a:lvl5pPr>
              <a:lnSpc>
                <a:spcPct val="114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D5A83BB-9D8E-880B-93F2-512308F059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401" y="1170433"/>
            <a:ext cx="8590220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500" b="0" i="0">
                <a:latin typeface="+mn-lt"/>
              </a:defRPr>
            </a:lvl1pPr>
            <a:lvl3pPr marL="6350" indent="0">
              <a:buNone/>
              <a:defRPr/>
            </a:lvl3pPr>
            <a:lvl4pPr marL="174621" indent="0">
              <a:buNone/>
              <a:defRPr/>
            </a:lvl4pPr>
            <a:lvl5pPr marL="344479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C4D9A7-680D-EAB5-E2D1-74AB49916B6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704588" y="1956816"/>
            <a:ext cx="4169664" cy="4456684"/>
          </a:xfrm>
        </p:spPr>
        <p:txBody>
          <a:bodyPr/>
          <a:lstStyle>
            <a:lvl1pPr>
              <a:lnSpc>
                <a:spcPct val="114000"/>
              </a:lnSpc>
              <a:spcAft>
                <a:spcPts val="300"/>
              </a:spcAft>
              <a:defRPr sz="1350"/>
            </a:lvl1pPr>
            <a:lvl2pPr>
              <a:lnSpc>
                <a:spcPct val="114000"/>
              </a:lnSpc>
              <a:spcAft>
                <a:spcPts val="450"/>
              </a:spcAft>
              <a:defRPr/>
            </a:lvl2pPr>
            <a:lvl3pPr>
              <a:lnSpc>
                <a:spcPct val="114000"/>
              </a:lnSpc>
              <a:spcAft>
                <a:spcPts val="450"/>
              </a:spcAft>
              <a:defRPr/>
            </a:lvl3pPr>
            <a:lvl4pPr>
              <a:lnSpc>
                <a:spcPct val="114000"/>
              </a:lnSpc>
              <a:spcAft>
                <a:spcPts val="450"/>
              </a:spcAft>
              <a:defRPr/>
            </a:lvl4pPr>
            <a:lvl5pPr>
              <a:lnSpc>
                <a:spcPct val="114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207A1DDC-E243-D1AE-BC8A-40F11B37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9980" y="6583478"/>
            <a:ext cx="373281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698" b="1">
                <a:solidFill>
                  <a:schemeClr val="bg1"/>
                </a:solidFill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407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-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141" y="0"/>
            <a:ext cx="5781294" cy="1143000"/>
          </a:xfrm>
        </p:spPr>
        <p:txBody>
          <a:bodyPr/>
          <a:lstStyle>
            <a:lvl1pPr>
              <a:defRPr spc="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142" y="1956816"/>
            <a:ext cx="5018073" cy="4456684"/>
          </a:xfrm>
        </p:spPr>
        <p:txBody>
          <a:bodyPr/>
          <a:lstStyle>
            <a:lvl1pPr>
              <a:lnSpc>
                <a:spcPct val="114000"/>
              </a:lnSpc>
              <a:spcAft>
                <a:spcPts val="300"/>
              </a:spcAft>
              <a:defRPr/>
            </a:lvl1pPr>
            <a:lvl2pPr>
              <a:lnSpc>
                <a:spcPct val="114000"/>
              </a:lnSpc>
              <a:spcBef>
                <a:spcPts val="0"/>
              </a:spcBef>
              <a:spcAft>
                <a:spcPts val="450"/>
              </a:spcAft>
              <a:defRPr/>
            </a:lvl2pPr>
            <a:lvl3pPr>
              <a:lnSpc>
                <a:spcPct val="114000"/>
              </a:lnSpc>
              <a:spcBef>
                <a:spcPts val="0"/>
              </a:spcBef>
              <a:spcAft>
                <a:spcPts val="450"/>
              </a:spcAft>
              <a:defRPr/>
            </a:lvl3pPr>
            <a:lvl4pPr>
              <a:lnSpc>
                <a:spcPct val="114000"/>
              </a:lnSpc>
              <a:spcBef>
                <a:spcPts val="0"/>
              </a:spcBef>
              <a:spcAft>
                <a:spcPts val="450"/>
              </a:spcAft>
              <a:defRPr/>
            </a:lvl4pPr>
            <a:lvl5pPr>
              <a:lnSpc>
                <a:spcPct val="114000"/>
              </a:lnSpc>
              <a:spcBef>
                <a:spcPts val="0"/>
              </a:spcBef>
              <a:spcAft>
                <a:spcPts val="4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D4D9DA8-B2E1-9255-0F3F-667449A80D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57900" y="0"/>
            <a:ext cx="3086100" cy="6553200"/>
          </a:xfrm>
          <a:noFill/>
        </p:spPr>
        <p:txBody>
          <a:bodyPr>
            <a:normAutofit/>
          </a:bodyPr>
          <a:lstStyle>
            <a:lvl1pPr>
              <a:defRPr sz="900" b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03186F7-99CC-7E47-8AD7-CF937E00F6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1178" y="1170433"/>
            <a:ext cx="5783262" cy="573617"/>
          </a:xfrm>
        </p:spPr>
        <p:txBody>
          <a:bodyPr/>
          <a:lstStyle>
            <a:lvl1pPr>
              <a:lnSpc>
                <a:spcPct val="100000"/>
              </a:lnSpc>
              <a:defRPr sz="1500" b="0" i="0">
                <a:latin typeface="+mn-lt"/>
              </a:defRPr>
            </a:lvl1pPr>
            <a:lvl3pPr marL="6350" indent="0">
              <a:buNone/>
              <a:defRPr/>
            </a:lvl3pPr>
            <a:lvl4pPr marL="174621" indent="0">
              <a:buNone/>
              <a:defRPr/>
            </a:lvl4pPr>
            <a:lvl5pPr marL="344479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9820A9D7-C92F-50D2-3DD3-3AB689B7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9980" y="6583478"/>
            <a:ext cx="373281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698" b="1">
                <a:solidFill>
                  <a:schemeClr val="bg1"/>
                </a:solidFill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75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s-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9142" y="4528394"/>
            <a:ext cx="4167497" cy="158371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227A447-AD3E-43E5-8193-BFADE932E8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178" y="1170433"/>
            <a:ext cx="8590221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500" b="0" i="0">
                <a:latin typeface="+mn-lt"/>
              </a:defRPr>
            </a:lvl1pPr>
            <a:lvl3pPr marL="6350" indent="0">
              <a:buNone/>
              <a:defRPr/>
            </a:lvl3pPr>
            <a:lvl4pPr marL="174621" indent="0">
              <a:buNone/>
              <a:defRPr/>
            </a:lvl4pPr>
            <a:lvl5pPr marL="344479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9C690AE-22FB-FDE9-21B1-0F2E45C30F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6616" y="2030650"/>
            <a:ext cx="3824287" cy="24384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F1552FC-E7FE-74E7-9FC3-DAE8E69EDDF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698742" y="4528394"/>
            <a:ext cx="4167497" cy="158371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512796C0-CB45-C263-9788-F8AE880414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73168" y="2030650"/>
            <a:ext cx="3824287" cy="24384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C1110-ACDB-A90D-C8BD-C9536517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9980" y="6583478"/>
            <a:ext cx="373281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698" b="1">
                <a:solidFill>
                  <a:schemeClr val="bg1"/>
                </a:solidFill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17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p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9142" y="1956817"/>
            <a:ext cx="4167497" cy="4120427"/>
          </a:xfrm>
        </p:spPr>
        <p:txBody>
          <a:bodyPr bIns="137160"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227A447-AD3E-43E5-8193-BFADE932E8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178" y="1170433"/>
            <a:ext cx="4167497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500" b="0" i="0">
                <a:latin typeface="+mn-lt"/>
              </a:defRPr>
            </a:lvl1pPr>
            <a:lvl3pPr marL="6350" indent="0">
              <a:buNone/>
              <a:defRPr/>
            </a:lvl3pPr>
            <a:lvl4pPr marL="174621" indent="0">
              <a:buNone/>
              <a:defRPr/>
            </a:lvl4pPr>
            <a:lvl5pPr marL="344479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457C096-4AC9-390C-2520-4A3B876FA2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1" y="1637770"/>
            <a:ext cx="4297363" cy="47799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A938B46E-9006-CBC8-498C-40536BF7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9980" y="6583478"/>
            <a:ext cx="373281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698" b="1">
                <a:solidFill>
                  <a:schemeClr val="bg1"/>
                </a:solidFill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285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lumns-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142" y="1956816"/>
            <a:ext cx="2640330" cy="4453128"/>
          </a:xfrm>
        </p:spPr>
        <p:txBody>
          <a:bodyPr/>
          <a:lstStyle>
            <a:lvl1pPr>
              <a:lnSpc>
                <a:spcPct val="114000"/>
              </a:lnSpc>
              <a:spcAft>
                <a:spcPts val="300"/>
              </a:spcAft>
              <a:defRPr sz="1350"/>
            </a:lvl1pPr>
            <a:lvl2pPr>
              <a:lnSpc>
                <a:spcPct val="114000"/>
              </a:lnSpc>
              <a:spcAft>
                <a:spcPts val="450"/>
              </a:spcAft>
              <a:defRPr/>
            </a:lvl2pPr>
            <a:lvl3pPr>
              <a:lnSpc>
                <a:spcPct val="114000"/>
              </a:lnSpc>
              <a:spcAft>
                <a:spcPts val="450"/>
              </a:spcAft>
              <a:defRPr/>
            </a:lvl3pPr>
            <a:lvl4pPr>
              <a:lnSpc>
                <a:spcPct val="114000"/>
              </a:lnSpc>
              <a:spcAft>
                <a:spcPts val="450"/>
              </a:spcAft>
              <a:defRPr/>
            </a:lvl4pPr>
            <a:lvl5pPr>
              <a:lnSpc>
                <a:spcPct val="114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D5A83BB-9D8E-880B-93F2-512308F059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401" y="1170433"/>
            <a:ext cx="8590220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500" b="0" i="0">
                <a:latin typeface="+mn-lt"/>
              </a:defRPr>
            </a:lvl1pPr>
            <a:lvl3pPr marL="6350" indent="0">
              <a:buNone/>
              <a:defRPr/>
            </a:lvl3pPr>
            <a:lvl4pPr marL="174621" indent="0">
              <a:buNone/>
              <a:defRPr/>
            </a:lvl4pPr>
            <a:lvl5pPr marL="344479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137307E-40E5-5240-6CF4-FDDE718A1CC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30362" y="1956816"/>
            <a:ext cx="2640330" cy="4453128"/>
          </a:xfrm>
        </p:spPr>
        <p:txBody>
          <a:bodyPr/>
          <a:lstStyle>
            <a:lvl1pPr>
              <a:lnSpc>
                <a:spcPct val="114000"/>
              </a:lnSpc>
              <a:spcAft>
                <a:spcPts val="300"/>
              </a:spcAft>
              <a:defRPr sz="1350"/>
            </a:lvl1pPr>
            <a:lvl2pPr>
              <a:lnSpc>
                <a:spcPct val="114000"/>
              </a:lnSpc>
              <a:spcAft>
                <a:spcPts val="450"/>
              </a:spcAft>
              <a:defRPr/>
            </a:lvl2pPr>
            <a:lvl3pPr>
              <a:lnSpc>
                <a:spcPct val="114000"/>
              </a:lnSpc>
              <a:spcAft>
                <a:spcPts val="450"/>
              </a:spcAft>
              <a:defRPr/>
            </a:lvl3pPr>
            <a:lvl4pPr>
              <a:lnSpc>
                <a:spcPct val="114000"/>
              </a:lnSpc>
              <a:spcAft>
                <a:spcPts val="450"/>
              </a:spcAft>
              <a:defRPr/>
            </a:lvl4pPr>
            <a:lvl5pPr>
              <a:lnSpc>
                <a:spcPct val="114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A35DD22-AD94-02F7-726D-EF8870A6BBD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254752" y="1956816"/>
            <a:ext cx="2640330" cy="4453128"/>
          </a:xfrm>
        </p:spPr>
        <p:txBody>
          <a:bodyPr/>
          <a:lstStyle>
            <a:lvl1pPr>
              <a:lnSpc>
                <a:spcPct val="114000"/>
              </a:lnSpc>
              <a:spcAft>
                <a:spcPts val="300"/>
              </a:spcAft>
              <a:defRPr sz="1350"/>
            </a:lvl1pPr>
            <a:lvl2pPr>
              <a:lnSpc>
                <a:spcPct val="114000"/>
              </a:lnSpc>
              <a:spcAft>
                <a:spcPts val="450"/>
              </a:spcAft>
              <a:defRPr/>
            </a:lvl2pPr>
            <a:lvl3pPr>
              <a:lnSpc>
                <a:spcPct val="114000"/>
              </a:lnSpc>
              <a:spcAft>
                <a:spcPts val="450"/>
              </a:spcAft>
              <a:defRPr/>
            </a:lvl3pPr>
            <a:lvl4pPr>
              <a:lnSpc>
                <a:spcPct val="114000"/>
              </a:lnSpc>
              <a:spcAft>
                <a:spcPts val="450"/>
              </a:spcAft>
              <a:defRPr/>
            </a:lvl4pPr>
            <a:lvl5pPr>
              <a:lnSpc>
                <a:spcPct val="114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D2252798-75B5-6A20-2C7F-A0A9106A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9980" y="6583478"/>
            <a:ext cx="373281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698" b="1">
                <a:solidFill>
                  <a:schemeClr val="bg1"/>
                </a:solidFill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039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lumns-Comp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E243A6D-D989-6475-9B95-66EB2ADB4D73}"/>
              </a:ext>
            </a:extLst>
          </p:cNvPr>
          <p:cNvSpPr/>
          <p:nvPr/>
        </p:nvSpPr>
        <p:spPr>
          <a:xfrm>
            <a:off x="0" y="2044904"/>
            <a:ext cx="9144000" cy="33948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4001" y="1456352"/>
            <a:ext cx="2640330" cy="4572000"/>
          </a:xfrm>
          <a:solidFill>
            <a:schemeClr val="bg1">
              <a:lumMod val="95000"/>
            </a:schemeClr>
          </a:solidFill>
          <a:ln w="25400">
            <a:solidFill>
              <a:schemeClr val="tx2"/>
            </a:solidFill>
          </a:ln>
        </p:spPr>
        <p:txBody>
          <a:bodyPr lIns="164592" tIns="137160" rIns="164592">
            <a:noAutofit/>
          </a:bodyPr>
          <a:lstStyle>
            <a:lvl1pPr algn="ctr">
              <a:lnSpc>
                <a:spcPct val="114000"/>
              </a:lnSpc>
              <a:spcAft>
                <a:spcPts val="300"/>
              </a:spcAft>
              <a:defRPr/>
            </a:lvl1pPr>
            <a:lvl2pPr algn="ctr">
              <a:lnSpc>
                <a:spcPct val="114000"/>
              </a:lnSpc>
              <a:spcAft>
                <a:spcPts val="450"/>
              </a:spcAft>
              <a:defRPr/>
            </a:lvl2pPr>
            <a:lvl3pPr>
              <a:lnSpc>
                <a:spcPct val="114000"/>
              </a:lnSpc>
              <a:spcAft>
                <a:spcPts val="450"/>
              </a:spcAft>
              <a:defRPr/>
            </a:lvl3pPr>
            <a:lvl4pPr>
              <a:lnSpc>
                <a:spcPct val="114000"/>
              </a:lnSpc>
              <a:spcAft>
                <a:spcPts val="450"/>
              </a:spcAft>
              <a:defRPr/>
            </a:lvl4pPr>
            <a:lvl5pPr>
              <a:lnSpc>
                <a:spcPct val="114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1D212F2-E016-678E-503F-65211A1D60C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43651" y="1456352"/>
            <a:ext cx="2640330" cy="4572000"/>
          </a:xfrm>
          <a:solidFill>
            <a:schemeClr val="bg1">
              <a:lumMod val="95000"/>
            </a:schemeClr>
          </a:solidFill>
          <a:ln w="25400">
            <a:solidFill>
              <a:schemeClr val="tx2"/>
            </a:solidFill>
          </a:ln>
        </p:spPr>
        <p:txBody>
          <a:bodyPr lIns="164592" tIns="137160" rIns="164592">
            <a:noAutofit/>
          </a:bodyPr>
          <a:lstStyle>
            <a:lvl1pPr algn="ctr">
              <a:lnSpc>
                <a:spcPct val="114000"/>
              </a:lnSpc>
              <a:spcAft>
                <a:spcPts val="300"/>
              </a:spcAft>
              <a:defRPr/>
            </a:lvl1pPr>
            <a:lvl2pPr algn="ctr">
              <a:lnSpc>
                <a:spcPct val="114000"/>
              </a:lnSpc>
              <a:spcAft>
                <a:spcPts val="450"/>
              </a:spcAft>
              <a:defRPr/>
            </a:lvl2pPr>
            <a:lvl3pPr>
              <a:lnSpc>
                <a:spcPct val="114000"/>
              </a:lnSpc>
              <a:spcAft>
                <a:spcPts val="450"/>
              </a:spcAft>
              <a:defRPr/>
            </a:lvl3pPr>
            <a:lvl4pPr>
              <a:lnSpc>
                <a:spcPct val="114000"/>
              </a:lnSpc>
              <a:spcAft>
                <a:spcPts val="450"/>
              </a:spcAft>
              <a:defRPr/>
            </a:lvl4pPr>
            <a:lvl5pPr>
              <a:lnSpc>
                <a:spcPct val="114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8FE8B98-FE53-BAD7-940B-691589B7112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53826" y="1456352"/>
            <a:ext cx="2640330" cy="4572000"/>
          </a:xfrm>
          <a:solidFill>
            <a:schemeClr val="bg1">
              <a:lumMod val="95000"/>
            </a:schemeClr>
          </a:solidFill>
          <a:ln w="25400">
            <a:solidFill>
              <a:schemeClr val="tx2"/>
            </a:solidFill>
          </a:ln>
        </p:spPr>
        <p:txBody>
          <a:bodyPr lIns="164592" tIns="137160" rIns="164592">
            <a:noAutofit/>
          </a:bodyPr>
          <a:lstStyle>
            <a:lvl1pPr algn="ctr">
              <a:lnSpc>
                <a:spcPct val="114000"/>
              </a:lnSpc>
              <a:spcAft>
                <a:spcPts val="300"/>
              </a:spcAft>
              <a:defRPr/>
            </a:lvl1pPr>
            <a:lvl2pPr algn="ctr">
              <a:lnSpc>
                <a:spcPct val="114000"/>
              </a:lnSpc>
              <a:spcAft>
                <a:spcPts val="450"/>
              </a:spcAft>
              <a:defRPr/>
            </a:lvl2pPr>
            <a:lvl3pPr>
              <a:lnSpc>
                <a:spcPct val="114000"/>
              </a:lnSpc>
              <a:spcAft>
                <a:spcPts val="450"/>
              </a:spcAft>
              <a:defRPr/>
            </a:lvl3pPr>
            <a:lvl4pPr>
              <a:lnSpc>
                <a:spcPct val="114000"/>
              </a:lnSpc>
              <a:spcAft>
                <a:spcPts val="450"/>
              </a:spcAft>
              <a:defRPr/>
            </a:lvl4pPr>
            <a:lvl5pPr>
              <a:lnSpc>
                <a:spcPct val="114000"/>
              </a:lnSpc>
              <a:spcAft>
                <a:spcPts val="4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1411F1FF-3ACF-1975-3CD0-FA1DC10D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9980" y="6583478"/>
            <a:ext cx="373281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698" b="1">
                <a:solidFill>
                  <a:schemeClr val="bg1"/>
                </a:solidFill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06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Type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25917EB-8EBC-54E5-E082-F2C50065DE9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2901" y="1885506"/>
            <a:ext cx="8458199" cy="4532227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A8F5E660-7E62-50F2-6560-4A37AF0569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9401" y="1170433"/>
            <a:ext cx="8590220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500" b="0" i="0">
                <a:latin typeface="+mn-lt"/>
              </a:defRPr>
            </a:lvl1pPr>
            <a:lvl3pPr marL="6350" indent="0">
              <a:buNone/>
              <a:defRPr/>
            </a:lvl3pPr>
            <a:lvl4pPr marL="174621" indent="0">
              <a:buNone/>
              <a:defRPr/>
            </a:lvl4pPr>
            <a:lvl5pPr marL="344479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ED02709C-B9E2-2479-FCC5-059829D6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9980" y="6583478"/>
            <a:ext cx="373281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698" b="1">
                <a:solidFill>
                  <a:schemeClr val="bg1"/>
                </a:solidFill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923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2160" userDrawn="1">
          <p15:clr>
            <a:srgbClr val="FBAE40"/>
          </p15:clr>
        </p15:guide>
        <p15:guide id="8" orient="horz" pos="132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Sub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10ED764-95FB-8EBB-7659-9AEFCB94E2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9401" y="1170433"/>
            <a:ext cx="8590220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500" b="0" i="0">
                <a:latin typeface="+mn-lt"/>
              </a:defRPr>
            </a:lvl1pPr>
            <a:lvl3pPr marL="6350" indent="0">
              <a:buNone/>
              <a:defRPr/>
            </a:lvl3pPr>
            <a:lvl4pPr marL="174621" indent="0">
              <a:buNone/>
              <a:defRPr/>
            </a:lvl4pPr>
            <a:lvl5pPr marL="344479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55373F48-814A-152B-041B-20CF6CEA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9980" y="6583478"/>
            <a:ext cx="373281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698" b="1">
                <a:solidFill>
                  <a:schemeClr val="bg1"/>
                </a:solidFill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564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6ABA64-368E-BBC0-663A-E04E9904B76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EB608DE-BFCD-A2BA-DB2F-60A4A85A828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12" t="-148" r="7377" b="148"/>
          <a:stretch/>
        </p:blipFill>
        <p:spPr>
          <a:xfrm>
            <a:off x="-5360" y="1"/>
            <a:ext cx="6706113" cy="685800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7F6CAA3-8590-69C0-BCEF-50C02B09A4C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1633" r="28586"/>
          <a:stretch/>
        </p:blipFill>
        <p:spPr>
          <a:xfrm>
            <a:off x="2064674" y="0"/>
            <a:ext cx="7079327" cy="68681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1" y="606689"/>
            <a:ext cx="4297363" cy="2387600"/>
          </a:xfrm>
        </p:spPr>
        <p:txBody>
          <a:bodyPr rIns="73152" anchor="b"/>
          <a:lstStyle>
            <a:lvl1pPr algn="r">
              <a:defRPr sz="39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5A244-B559-1775-7282-C0645062D1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5266" y="5298725"/>
            <a:ext cx="1692656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38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9142" y="0"/>
            <a:ext cx="8590221" cy="1143000"/>
          </a:xfrm>
          <a:prstGeom prst="rect">
            <a:avLst/>
          </a:prstGeom>
        </p:spPr>
        <p:txBody>
          <a:bodyPr vert="horz" lIns="73152" tIns="45720" rIns="91440" bIns="45720" rtlCol="0" anchor="b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142" y="2622003"/>
            <a:ext cx="8590221" cy="3554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4648D25-2907-76E6-F373-A073DDE56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6837" y="6658065"/>
            <a:ext cx="1253178" cy="10325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2CD8742-78CC-2836-6668-C8A0EBEE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6837" y="6658065"/>
            <a:ext cx="1253178" cy="10325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3AE01DE-90C4-B404-F28D-321ADD0553A0}"/>
              </a:ext>
            </a:extLst>
          </p:cNvPr>
          <p:cNvSpPr/>
          <p:nvPr/>
        </p:nvSpPr>
        <p:spPr>
          <a:xfrm>
            <a:off x="1" y="6554538"/>
            <a:ext cx="9144000" cy="304800"/>
          </a:xfrm>
          <a:prstGeom prst="rect">
            <a:avLst/>
          </a:prstGeom>
          <a:gradFill>
            <a:gsLst>
              <a:gs pos="23000">
                <a:srgbClr val="38175A"/>
              </a:gs>
              <a:gs pos="48000">
                <a:srgbClr val="4E2A8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D11852D9-AE8A-AFEA-DCDC-96EF7854D9F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28799" t="85341" b="592"/>
          <a:stretch/>
        </p:blipFill>
        <p:spPr>
          <a:xfrm>
            <a:off x="0" y="6556376"/>
            <a:ext cx="2122117" cy="301624"/>
          </a:xfrm>
          <a:prstGeom prst="rect">
            <a:avLst/>
          </a:prstGeom>
        </p:spPr>
      </p:pic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99B5B88B-F3FF-DC9B-1E8A-89B0406BE3BF}"/>
              </a:ext>
            </a:extLst>
          </p:cNvPr>
          <p:cNvSpPr txBox="1">
            <a:spLocks/>
          </p:cNvSpPr>
          <p:nvPr/>
        </p:nvSpPr>
        <p:spPr>
          <a:xfrm>
            <a:off x="3337853" y="6598309"/>
            <a:ext cx="5181600" cy="2692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aseline="0" dirty="0">
                <a:solidFill>
                  <a:schemeClr val="bg1"/>
                </a:solidFill>
                <a:latin typeface="Century Gothic" panose="020B0502020202020204" pitchFamily="34" charset="0"/>
              </a:rPr>
              <a:t>Leading the way to better care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0A26BD3D-2CBD-1C35-7E3C-714964E9E9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66234" y="6655750"/>
            <a:ext cx="73152" cy="12192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552565F4-9FD9-E8B3-4A03-9AAD30B932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9789" y="6659403"/>
            <a:ext cx="1253178" cy="1032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8F7278-2615-2054-B90E-2AA753C02FCC}"/>
              </a:ext>
            </a:extLst>
          </p:cNvPr>
          <p:cNvSpPr/>
          <p:nvPr/>
        </p:nvSpPr>
        <p:spPr>
          <a:xfrm>
            <a:off x="1" y="6554538"/>
            <a:ext cx="9144000" cy="304800"/>
          </a:xfrm>
          <a:prstGeom prst="rect">
            <a:avLst/>
          </a:prstGeom>
          <a:gradFill>
            <a:gsLst>
              <a:gs pos="23000">
                <a:srgbClr val="38175A"/>
              </a:gs>
              <a:gs pos="48000">
                <a:srgbClr val="4E2A8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CFCDD35-1AC9-108E-C18C-ECE15875388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28799" t="85341" b="592"/>
          <a:stretch/>
        </p:blipFill>
        <p:spPr>
          <a:xfrm>
            <a:off x="0" y="6556376"/>
            <a:ext cx="2122117" cy="301624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30B59BD-9A7D-4D29-8E54-E1CD14439CCC}"/>
              </a:ext>
            </a:extLst>
          </p:cNvPr>
          <p:cNvSpPr txBox="1">
            <a:spLocks/>
          </p:cNvSpPr>
          <p:nvPr/>
        </p:nvSpPr>
        <p:spPr>
          <a:xfrm>
            <a:off x="3337853" y="6598309"/>
            <a:ext cx="5181600" cy="2692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aseline="0" dirty="0">
                <a:solidFill>
                  <a:schemeClr val="bg1"/>
                </a:solidFill>
                <a:latin typeface="Century Gothic" panose="020B0502020202020204" pitchFamily="34" charset="0"/>
              </a:rPr>
              <a:t>Leading the way to better care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869D689-0909-8B4E-CECC-CF149412B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66234" y="6655750"/>
            <a:ext cx="73152" cy="12192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B9F16B1-46AC-A97A-60FF-87C85E6C9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9789" y="6659403"/>
            <a:ext cx="1253178" cy="10325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AC5A1B2-7E72-4BEE-F4C1-A5BAF246D0D7}"/>
              </a:ext>
            </a:extLst>
          </p:cNvPr>
          <p:cNvSpPr/>
          <p:nvPr/>
        </p:nvSpPr>
        <p:spPr>
          <a:xfrm>
            <a:off x="1" y="6554538"/>
            <a:ext cx="9144000" cy="304800"/>
          </a:xfrm>
          <a:prstGeom prst="rect">
            <a:avLst/>
          </a:prstGeom>
          <a:gradFill>
            <a:gsLst>
              <a:gs pos="23000">
                <a:srgbClr val="38175A"/>
              </a:gs>
              <a:gs pos="48000">
                <a:srgbClr val="4E2A8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D014D1F-722A-72FE-DC46-2CE32A178B2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28799" t="85341" b="592"/>
          <a:stretch/>
        </p:blipFill>
        <p:spPr>
          <a:xfrm>
            <a:off x="0" y="6556376"/>
            <a:ext cx="2122117" cy="301624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EC3D6817-EAA2-FBC2-9FE7-68758D84F57D}"/>
              </a:ext>
            </a:extLst>
          </p:cNvPr>
          <p:cNvSpPr txBox="1">
            <a:spLocks/>
          </p:cNvSpPr>
          <p:nvPr/>
        </p:nvSpPr>
        <p:spPr>
          <a:xfrm>
            <a:off x="3337853" y="6598309"/>
            <a:ext cx="5181600" cy="2692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aseline="0" dirty="0">
                <a:solidFill>
                  <a:schemeClr val="bg1"/>
                </a:solidFill>
                <a:latin typeface="Century Gothic" panose="020B0502020202020204" pitchFamily="34" charset="0"/>
              </a:rPr>
              <a:t>Leading the way to better care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3BE1B18-FE9D-F957-8448-1940B46DD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66234" y="6655750"/>
            <a:ext cx="73152" cy="1219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47728EF-C926-D874-EFE4-FA3ECA2A8A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9789" y="6659403"/>
            <a:ext cx="1253178" cy="10325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79247FF-B651-7ED1-ECE8-0D81E9CAC62A}"/>
              </a:ext>
            </a:extLst>
          </p:cNvPr>
          <p:cNvSpPr/>
          <p:nvPr userDrawn="1"/>
        </p:nvSpPr>
        <p:spPr>
          <a:xfrm>
            <a:off x="1" y="6554538"/>
            <a:ext cx="9144000" cy="304800"/>
          </a:xfrm>
          <a:prstGeom prst="rect">
            <a:avLst/>
          </a:prstGeom>
          <a:gradFill>
            <a:gsLst>
              <a:gs pos="23000">
                <a:srgbClr val="38175A"/>
              </a:gs>
              <a:gs pos="48000">
                <a:srgbClr val="4E2A8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6D57E68-686D-C5AB-58E0-01B79435106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28799" t="85341" b="592"/>
          <a:stretch/>
        </p:blipFill>
        <p:spPr>
          <a:xfrm>
            <a:off x="0" y="6556376"/>
            <a:ext cx="2122117" cy="301624"/>
          </a:xfrm>
          <a:prstGeom prst="rect">
            <a:avLst/>
          </a:prstGeom>
        </p:spPr>
      </p:pic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D5EB3DC-E480-7982-EC51-163BEB3EECFF}"/>
              </a:ext>
            </a:extLst>
          </p:cNvPr>
          <p:cNvSpPr txBox="1">
            <a:spLocks/>
          </p:cNvSpPr>
          <p:nvPr userDrawn="1"/>
        </p:nvSpPr>
        <p:spPr>
          <a:xfrm>
            <a:off x="3337853" y="6598309"/>
            <a:ext cx="5181600" cy="2692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aseline="0" dirty="0">
                <a:solidFill>
                  <a:schemeClr val="bg1"/>
                </a:solidFill>
                <a:latin typeface="Century Gothic" panose="020B0502020202020204" pitchFamily="34" charset="0"/>
              </a:rPr>
              <a:t>Leading the way to better care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2CE50F5-116B-51E8-F022-BE912FA40B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50359" y="6649400"/>
            <a:ext cx="73152" cy="12192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BAEEF7D-9173-4200-D1FF-6767EF0122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6614" y="6649878"/>
            <a:ext cx="1356360" cy="83820"/>
          </a:xfrm>
          <a:prstGeom prst="rect">
            <a:avLst/>
          </a:prstGeom>
        </p:spPr>
      </p:pic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C39B241E-5C67-5977-C818-AF23C625E4DA}"/>
              </a:ext>
            </a:extLst>
          </p:cNvPr>
          <p:cNvSpPr txBox="1">
            <a:spLocks/>
          </p:cNvSpPr>
          <p:nvPr userDrawn="1"/>
        </p:nvSpPr>
        <p:spPr>
          <a:xfrm>
            <a:off x="8509980" y="6562614"/>
            <a:ext cx="373281" cy="275167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r" defTabSz="609585" rtl="0" eaLnBrk="1" latinLnBrk="0" hangingPunct="1">
              <a:defRPr sz="698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001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783" rtl="0" eaLnBrk="1" latinLnBrk="0" hangingPunct="1">
        <a:lnSpc>
          <a:spcPct val="114000"/>
        </a:lnSpc>
        <a:spcBef>
          <a:spcPts val="750"/>
        </a:spcBef>
        <a:spcAft>
          <a:spcPts val="300"/>
        </a:spcAft>
        <a:buFontTx/>
        <a:buNone/>
        <a:defRPr sz="1800" b="1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350" indent="0" algn="l" defTabSz="685783" rtl="0" eaLnBrk="1" latinLnBrk="0" hangingPunct="1">
        <a:lnSpc>
          <a:spcPct val="114000"/>
        </a:lnSpc>
        <a:spcBef>
          <a:spcPts val="0"/>
        </a:spcBef>
        <a:spcAft>
          <a:spcPts val="450"/>
        </a:spcAft>
        <a:buFontTx/>
        <a:buNone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74621" indent="-168271" algn="l" defTabSz="685783" rtl="0" eaLnBrk="1" latinLnBrk="0" hangingPunct="1">
        <a:lnSpc>
          <a:spcPct val="114000"/>
        </a:lnSpc>
        <a:spcBef>
          <a:spcPts val="0"/>
        </a:spcBef>
        <a:spcAft>
          <a:spcPts val="450"/>
        </a:spcAft>
        <a:buClr>
          <a:schemeClr val="tx2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0" indent="-169859" algn="l" defTabSz="685783" rtl="0" eaLnBrk="1" latinLnBrk="0" hangingPunct="1">
        <a:lnSpc>
          <a:spcPct val="114000"/>
        </a:lnSpc>
        <a:spcBef>
          <a:spcPts val="0"/>
        </a:spcBef>
        <a:spcAft>
          <a:spcPts val="450"/>
        </a:spcAft>
        <a:buClr>
          <a:schemeClr val="tx2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520687" indent="-176209" algn="l" defTabSz="685783" rtl="0" eaLnBrk="1" latinLnBrk="0" hangingPunct="1">
        <a:lnSpc>
          <a:spcPct val="114000"/>
        </a:lnSpc>
        <a:spcBef>
          <a:spcPts val="0"/>
        </a:spcBef>
        <a:spcAft>
          <a:spcPts val="450"/>
        </a:spcAft>
        <a:buClr>
          <a:schemeClr val="tx2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pos="7680">
          <p15:clr>
            <a:srgbClr val="F26B43"/>
          </p15:clr>
        </p15:guide>
        <p15:guide id="19" pos="288">
          <p15:clr>
            <a:srgbClr val="F26B43"/>
          </p15:clr>
        </p15:guide>
        <p15:guide id="20" pos="7392">
          <p15:clr>
            <a:srgbClr val="F26B43"/>
          </p15:clr>
        </p15:guide>
        <p15:guide id="25" userDrawn="1">
          <p15:clr>
            <a:srgbClr val="F26B43"/>
          </p15:clr>
        </p15:guide>
        <p15:guide id="26" pos="5760" userDrawn="1">
          <p15:clr>
            <a:srgbClr val="F26B43"/>
          </p15:clr>
        </p15:guide>
        <p15:guide id="27" pos="216" userDrawn="1">
          <p15:clr>
            <a:srgbClr val="F26B43"/>
          </p15:clr>
        </p15:guide>
        <p15:guide id="28" pos="5544" userDrawn="1">
          <p15:clr>
            <a:srgbClr val="F26B43"/>
          </p15:clr>
        </p15:guide>
        <p15:guide id="29" orient="horz" userDrawn="1">
          <p15:clr>
            <a:srgbClr val="F26B43"/>
          </p15:clr>
        </p15:guide>
        <p15:guide id="30" orient="horz" pos="4320" userDrawn="1">
          <p15:clr>
            <a:srgbClr val="F26B43"/>
          </p15:clr>
        </p15:guide>
        <p15:guide id="31" orient="horz" pos="172" userDrawn="1">
          <p15:clr>
            <a:srgbClr val="F26B43"/>
          </p15:clr>
        </p15:guide>
        <p15:guide id="32" orient="horz" pos="3985" userDrawn="1">
          <p15:clr>
            <a:srgbClr val="F26B43"/>
          </p15:clr>
        </p15:guide>
        <p15:guide id="33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3724420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2F149C-AD5A-380F-5409-39EAA487A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440" y="1676400"/>
            <a:ext cx="7135359" cy="1940812"/>
          </a:xfrm>
        </p:spPr>
        <p:txBody>
          <a:bodyPr/>
          <a:lstStyle/>
          <a:p>
            <a:r>
              <a:rPr lang="en-US" b="1" dirty="0"/>
              <a:t>Evaluation of Local Language Models for Medical Record Analysis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00FF4AF-95FB-2D4A-27CC-E8DDC68DA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440" y="3762092"/>
            <a:ext cx="6262688" cy="602377"/>
          </a:xfrm>
        </p:spPr>
        <p:txBody>
          <a:bodyPr/>
          <a:lstStyle/>
          <a:p>
            <a:r>
              <a:rPr lang="en-US" dirty="0"/>
              <a:t>A comparative evaluation of Qwen, Llama, and Gemini models using PDSQI-9 based quality assessment.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3CA11C-B1D7-B6A7-8A75-E685F4627E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8440" y="4817812"/>
            <a:ext cx="4452031" cy="16591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Presented by: Cherish Uwandu</a:t>
            </a:r>
          </a:p>
          <a:p>
            <a:pPr>
              <a:lnSpc>
                <a:spcPct val="100000"/>
              </a:lnSpc>
            </a:pPr>
            <a:r>
              <a:rPr lang="en-US" dirty="0"/>
              <a:t>Collaborating Authors: David </a:t>
            </a:r>
            <a:r>
              <a:rPr lang="en-US" dirty="0" err="1"/>
              <a:t>Liebovitz</a:t>
            </a:r>
            <a:r>
              <a:rPr lang="en-US" dirty="0"/>
              <a:t>, MD</a:t>
            </a:r>
          </a:p>
          <a:p>
            <a:pPr>
              <a:lnSpc>
                <a:spcPct val="100000"/>
              </a:lnSpc>
            </a:pPr>
            <a:r>
              <a:rPr lang="en-US" dirty="0"/>
              <a:t>Department: Clinical Informatics</a:t>
            </a:r>
          </a:p>
          <a:p>
            <a:pPr>
              <a:lnSpc>
                <a:spcPct val="100000"/>
              </a:lnSpc>
            </a:pPr>
            <a:r>
              <a:rPr lang="en-US" dirty="0"/>
              <a:t>Summer 2026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395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9C6D-011C-3869-3C1B-F3BA6422F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0AF61-CB28-B6FC-E5C1-247CF5B11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040" y="1492451"/>
            <a:ext cx="8590221" cy="4376468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Medical records are information-dense.</a:t>
            </a:r>
            <a:r>
              <a:rPr lang="en-US" sz="2000" b="0" dirty="0"/>
              <a:t> Patients' records contain large amounts of longitudinal and often complex clinical information. [1]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Large language models (LLMs) may improve access to this information. </a:t>
            </a:r>
            <a:r>
              <a:rPr lang="en-US" sz="2000" b="0" dirty="0"/>
              <a:t>They are being investigated for tasks including medical question-answering, summarization, and clinical reasoning. [1]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Local LLMs offer potential advantages. </a:t>
            </a:r>
            <a:r>
              <a:rPr lang="en-US" sz="2000" b="0" dirty="0"/>
              <a:t>Processing information directly on a device may improve privacy and reduce reliance on cloud-based services. [2]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However, smaller models require careful evaluation. </a:t>
            </a:r>
            <a:r>
              <a:rPr lang="en-US" sz="2000" b="0" dirty="0"/>
              <a:t>Healthcare LLMs can produce inaccurate information, making evaluation of response quality and accuracy important before potential</a:t>
            </a:r>
            <a:r>
              <a:rPr lang="en-US" sz="2000" dirty="0"/>
              <a:t> </a:t>
            </a:r>
            <a:r>
              <a:rPr lang="en-US" sz="2000" b="0" dirty="0"/>
              <a:t>clinical use. [1]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EBD81-1225-9F89-0334-793AA3F8D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60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AD9A-FA6B-92E6-027B-037704998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98" y="27214"/>
            <a:ext cx="8590221" cy="1143000"/>
          </a:xfrm>
        </p:spPr>
        <p:txBody>
          <a:bodyPr/>
          <a:lstStyle/>
          <a:p>
            <a:r>
              <a:rPr lang="en-US" dirty="0"/>
              <a:t>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74945-DFA1-4227-22DD-7E5818E4F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999" y="1338942"/>
            <a:ext cx="8287916" cy="2002971"/>
          </a:xfrm>
        </p:spPr>
        <p:txBody>
          <a:bodyPr/>
          <a:lstStyle/>
          <a:p>
            <a:r>
              <a:rPr lang="en-US" sz="2400" b="0" dirty="0"/>
              <a:t>To compare the response quality and accuracy of small local language models against a high-performing reference model when answering questions based on retrieved medical-record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89A3C-51F9-D74C-2E55-682896125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E89873-D37D-317E-FF68-EB6DE62F6B36}"/>
              </a:ext>
            </a:extLst>
          </p:cNvPr>
          <p:cNvSpPr txBox="1">
            <a:spLocks/>
          </p:cNvSpPr>
          <p:nvPr/>
        </p:nvSpPr>
        <p:spPr>
          <a:xfrm>
            <a:off x="387998" y="3015343"/>
            <a:ext cx="8590221" cy="1143000"/>
          </a:xfrm>
          <a:prstGeom prst="rect">
            <a:avLst/>
          </a:prstGeom>
        </p:spPr>
        <p:txBody>
          <a:bodyPr vert="horz" lIns="73152" tIns="45720" rIns="91440" bIns="45720" rtlCol="0" anchor="b" anchorCtr="0">
            <a:no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Research Question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8476BA2-596B-F0DA-DFE7-EE77645E7CEB}"/>
              </a:ext>
            </a:extLst>
          </p:cNvPr>
          <p:cNvSpPr txBox="1">
            <a:spLocks/>
          </p:cNvSpPr>
          <p:nvPr/>
        </p:nvSpPr>
        <p:spPr>
          <a:xfrm>
            <a:off x="387998" y="4288971"/>
            <a:ext cx="8287917" cy="1611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783" rtl="0" eaLnBrk="1" latinLnBrk="0" hangingPunct="1">
              <a:lnSpc>
                <a:spcPct val="114000"/>
              </a:lnSpc>
              <a:spcBef>
                <a:spcPts val="750"/>
              </a:spcBef>
              <a:spcAft>
                <a:spcPts val="300"/>
              </a:spcAft>
              <a:buFontTx/>
              <a:buNone/>
              <a:defRPr sz="13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50" indent="0" algn="l" defTabSz="685783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450"/>
              </a:spcAft>
              <a:buFontTx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4621" indent="-168271" algn="l" defTabSz="685783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45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4480" indent="-169859" algn="l" defTabSz="685783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45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0687" indent="-176209" algn="l" defTabSz="685783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45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dirty="0"/>
              <a:t>How do small local language models compare in response quality and accuracy across varying levels of medical-record question difficulty?</a:t>
            </a:r>
          </a:p>
        </p:txBody>
      </p:sp>
    </p:spTree>
    <p:extLst>
      <p:ext uri="{BB962C8B-B14F-4D97-AF65-F5344CB8AC3E}">
        <p14:creationId xmlns:p14="http://schemas.microsoft.com/office/powerpoint/2010/main" val="236228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DE34E-D261-33CB-EA32-7BB335606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4BB87-3344-8AEE-E7C3-1766A0C2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8" y="265935"/>
            <a:ext cx="8590221" cy="114300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Methods: Testing Dataset Creation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3321A-1BA7-8396-D943-9D53EDF9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6C50BE0-5A4D-A52D-80C9-9CC106C37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9998291"/>
              </p:ext>
            </p:extLst>
          </p:nvPr>
        </p:nvGraphicFramePr>
        <p:xfrm>
          <a:off x="277018" y="1674870"/>
          <a:ext cx="8589963" cy="4376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2432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19A23-4C88-B828-2760-67FA6DCB6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DA2D-76BF-56E4-BA39-4E9715B1E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Model Evaluation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00ED2-118A-E4A7-57B3-0342199E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640A6E0-C54E-A866-BF82-37F771C22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472" y="1380598"/>
            <a:ext cx="8447055" cy="4965282"/>
          </a:xfrm>
        </p:spPr>
        <p:txBody>
          <a:bodyPr/>
          <a:lstStyle/>
          <a:p>
            <a:r>
              <a:rPr lang="en-US" sz="1800" u="sng" dirty="0"/>
              <a:t>PDSQI-9–Derived Evaluation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u="sng" dirty="0"/>
              <a:t>The Provider Documentation Summarization Quality Instrument (PDSQI-9</a:t>
            </a:r>
            <a:r>
              <a:rPr lang="en-US" sz="1800" b="0" dirty="0"/>
              <a:t>): Framework for evaluating LLM-generated clinical summaries. [3]</a:t>
            </a:r>
            <a:br>
              <a:rPr lang="en-US" sz="1800" b="0" dirty="0"/>
            </a:br>
            <a:r>
              <a:rPr lang="en-US" sz="1800" b="0" i="1" dirty="0"/>
              <a:t>Adapted here for medical-record question answering.</a:t>
            </a:r>
            <a:endParaRPr lang="en-US" sz="1800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Claude Sonnet 4.6 evaluated each response using an adapted PDSQI-9 framework and the developers’ LLM-as-a-judge implementation.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u="sng" dirty="0"/>
              <a:t>Overall Response Quality</a:t>
            </a:r>
            <a:r>
              <a:rPr lang="en-US" sz="1800" b="0" dirty="0"/>
              <a:t>: Mean of 6 dimensions including Accuracy, Thoroughness, Usefulness, Organization, Comprehensibility, and Succinctness.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The Abstraction and Synthesized dimensions were evaluated separately due to different scoring structures and/or conditional applicability.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u="sng" dirty="0"/>
              <a:t>Excluded dimensions</a:t>
            </a:r>
            <a:r>
              <a:rPr lang="en-US" sz="1800" b="0" dirty="0"/>
              <a:t>: Citation (not applicable) and Stigmatizing language (all scores = 0).</a:t>
            </a:r>
          </a:p>
        </p:txBody>
      </p:sp>
    </p:spTree>
    <p:extLst>
      <p:ext uri="{BB962C8B-B14F-4D97-AF65-F5344CB8AC3E}">
        <p14:creationId xmlns:p14="http://schemas.microsoft.com/office/powerpoint/2010/main" val="1883885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BADA-9E33-D41A-2E5A-E2415C05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Overall Response Quality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72528-B25D-389C-62A4-C6B6A54DB1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3476" y="1377023"/>
            <a:ext cx="7598980" cy="573617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sz="1600" dirty="0"/>
              <a:t>Overall response quality did not significantly differ between models. </a:t>
            </a:r>
          </a:p>
          <a:p>
            <a:pPr>
              <a:spcBef>
                <a:spcPts val="300"/>
              </a:spcBef>
            </a:pPr>
            <a:r>
              <a:rPr lang="en-US" sz="1600" dirty="0"/>
              <a:t>(Friedman χ² = 5.19, p = 0.158).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2B246-60BD-5C4B-802A-07DE5D1D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CA16956B-2F84-FDEA-A9E9-F80786E2D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52" y="2184663"/>
            <a:ext cx="6543267" cy="400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73574-2BA0-6AFD-9BAC-0CBCF930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D394-4FA3-72E2-682E-90DCA5F7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Effect of Question Difficulty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6BC01-9891-1EA2-20A7-FB42B22F8B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202" y="5768710"/>
            <a:ext cx="8230839" cy="640451"/>
          </a:xfrm>
        </p:spPr>
        <p:txBody>
          <a:bodyPr/>
          <a:lstStyle/>
          <a:p>
            <a:pPr>
              <a:spcBef>
                <a:spcPts val="150"/>
              </a:spcBef>
            </a:pPr>
            <a:r>
              <a:rPr lang="en-US" dirty="0"/>
              <a:t>Easy questions scored significantly higher than Medium (Holm-adjusted p = 0.0086) and Hard questions (p = 0.00068). Medium vs. Hard was not significant (p = 0.053).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6192D-BCAC-BC9B-6CEA-C1B36974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86BC91-4CBB-CA51-BB91-3A5363600ADF}"/>
              </a:ext>
            </a:extLst>
          </p:cNvPr>
          <p:cNvSpPr txBox="1"/>
          <p:nvPr/>
        </p:nvSpPr>
        <p:spPr>
          <a:xfrm>
            <a:off x="365203" y="1253024"/>
            <a:ext cx="82308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Response quality significantly differed by question difficulty. </a:t>
            </a:r>
            <a:r>
              <a:rPr lang="en-US" sz="1500" i="1" dirty="0"/>
              <a:t>Kruskal-Wallis H = 17.30, p &lt; 0.001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86CCCA26-D6C0-2CC3-8027-FFED6A9DD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4435" y="1712913"/>
            <a:ext cx="6201587" cy="395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40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EA760-24EB-0ABB-22E2-E50CA979B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83A01-26E0-97FD-A0D0-712D1FD08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Accuracy by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D17CF-12B9-7449-5E39-D5C8D2C6D7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3041" y="1396798"/>
            <a:ext cx="8590220" cy="689189"/>
          </a:xfrm>
        </p:spPr>
        <p:txBody>
          <a:bodyPr/>
          <a:lstStyle/>
          <a:p>
            <a:r>
              <a:rPr lang="en-US" dirty="0"/>
              <a:t>Accuracy significantly differed between models. </a:t>
            </a:r>
            <a:r>
              <a:rPr lang="en-US" i="1" dirty="0"/>
              <a:t>Friedman χ² = 23.44, p &lt; 0.001</a:t>
            </a:r>
          </a:p>
          <a:p>
            <a:r>
              <a:rPr lang="en-US" dirty="0"/>
              <a:t>The smallest local model had the lowest mean accuracy, while the reference model had the highest.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8EEFE-5BE0-1B7C-5292-1FEC3BCA5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AD6CB6F8-F245-F04E-DAAC-14D1CBACF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24534" y="2339785"/>
            <a:ext cx="6694931" cy="400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49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E3A6-DFA2-62C5-80A0-C1836B7A7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8E50-E5EB-04A5-D063-6A2B0E7BC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Qualitative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83507-9924-658C-CD68-F5484C2118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2135" y="1455462"/>
            <a:ext cx="8419730" cy="744395"/>
          </a:xfrm>
        </p:spPr>
        <p:txBody>
          <a:bodyPr/>
          <a:lstStyle/>
          <a:p>
            <a:r>
              <a:rPr lang="en-US" b="1" dirty="0"/>
              <a:t>Question</a:t>
            </a:r>
            <a:r>
              <a:rPr lang="en-US" dirty="0"/>
              <a:t>: My sleep apnea has been getting worse. Have I gained a significant amount of weight since my CPAP was originally titrated in 2020, and has my daytime oxygen saturation changed?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38A07-A879-5249-2BBD-0B4A13D5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436F3B4-7589-E7B5-EB2B-307541752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719889"/>
              </p:ext>
            </p:extLst>
          </p:nvPr>
        </p:nvGraphicFramePr>
        <p:xfrm>
          <a:off x="565184" y="2336699"/>
          <a:ext cx="8216681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232">
                  <a:extLst>
                    <a:ext uri="{9D8B030D-6E8A-4147-A177-3AD203B41FA5}">
                      <a16:colId xmlns:a16="http://schemas.microsoft.com/office/drawing/2014/main" val="1570873265"/>
                    </a:ext>
                  </a:extLst>
                </a:gridCol>
                <a:gridCol w="3663159">
                  <a:extLst>
                    <a:ext uri="{9D8B030D-6E8A-4147-A177-3AD203B41FA5}">
                      <a16:colId xmlns:a16="http://schemas.microsoft.com/office/drawing/2014/main" val="2696773904"/>
                    </a:ext>
                  </a:extLst>
                </a:gridCol>
                <a:gridCol w="2396359">
                  <a:extLst>
                    <a:ext uri="{9D8B030D-6E8A-4147-A177-3AD203B41FA5}">
                      <a16:colId xmlns:a16="http://schemas.microsoft.com/office/drawing/2014/main" val="488479193"/>
                    </a:ext>
                  </a:extLst>
                </a:gridCol>
                <a:gridCol w="1008931">
                  <a:extLst>
                    <a:ext uri="{9D8B030D-6E8A-4147-A177-3AD203B41FA5}">
                      <a16:colId xmlns:a16="http://schemas.microsoft.com/office/drawing/2014/main" val="101485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Response Excerpt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PDSQI-9 Rubric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Accuracy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03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Qwen 1.5B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“You may experience an increase in snoring and pauses in breathing at night”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Unsupported assertion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0" dirty="0"/>
                        <a:t>2/5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86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Qwen 3B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“I cannot determine if there was a significant weight gain...”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Misaligned assertion</a:t>
                      </a:r>
                      <a:endParaRPr lang="en-US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3/5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7950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Llama 3.2 3B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“You have gained approximately 35 lbs... SpO₂ was 98%... most recent... 94%.”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Chart-supported assertions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0" dirty="0"/>
                        <a:t>5/5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143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Gemini 3.1 Pro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“Your records track ‘SpO₂’, but they do not explicitly specify whether these readings were taken during the daytime or nighttime.”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Chart-supported; noted missing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0" dirty="0"/>
                        <a:t>5/5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5621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7C15E79-0FD8-E0B0-4A54-0AC5EF3925C2}"/>
              </a:ext>
            </a:extLst>
          </p:cNvPr>
          <p:cNvSpPr txBox="1"/>
          <p:nvPr/>
        </p:nvSpPr>
        <p:spPr>
          <a:xfrm>
            <a:off x="682973" y="5663463"/>
            <a:ext cx="80136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Relevant chart evidence: </a:t>
            </a:r>
            <a:r>
              <a:rPr lang="en-US" sz="1200" dirty="0"/>
              <a:t>OSA diagnosed March 10, 2020; CPAP titration study March 25, 2020. Weight increased from 210 </a:t>
            </a:r>
            <a:r>
              <a:rPr lang="en-US" sz="1200" dirty="0" err="1"/>
              <a:t>lbs</a:t>
            </a:r>
            <a:r>
              <a:rPr lang="en-US" sz="1200" dirty="0"/>
              <a:t> (April 1, 2020) to 245 </a:t>
            </a:r>
            <a:r>
              <a:rPr lang="en-US" sz="1200" dirty="0" err="1"/>
              <a:t>lbs</a:t>
            </a:r>
            <a:r>
              <a:rPr lang="en-US" sz="1200" dirty="0"/>
              <a:t> (December 20, 2023), while SpO₂ decreased from 98% to 94%. The chart does not specify whether SpO₂ readings were daytime or nighttime.</a:t>
            </a:r>
          </a:p>
        </p:txBody>
      </p:sp>
    </p:spTree>
    <p:extLst>
      <p:ext uri="{BB962C8B-B14F-4D97-AF65-F5344CB8AC3E}">
        <p14:creationId xmlns:p14="http://schemas.microsoft.com/office/powerpoint/2010/main" val="2644063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315FD-C4CD-A614-4718-F3200388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30CEF-C186-B467-D4A3-5D220E2C4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142" y="1675005"/>
            <a:ext cx="8590221" cy="4376468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Local LLMs demonstrated high overall response quality, with no significant difference between models.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Question difficulty influenced response quality, with Easy questions receiving higher scores than Medium and Hard questions.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Accuracy differed significantly across models, with Gemini 3.1 Pro performing highest and Qwen 2.5 1.5B lowest.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Llama 3.2 3B was identified as the candidate local model for subsequent fine-tuning and evaluation.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B742D-CA86-6DD9-5A55-5BAF7848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562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28283-61CB-B7FC-14C7-E3D34FF3B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6A4AE-E5F6-2B06-FD08-53B9E02BE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DBC8-C91F-71C9-748C-17DF1F440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040" y="1675005"/>
            <a:ext cx="8590221" cy="4376468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0" dirty="0"/>
              <a:t>Fine-tune the selected local model using the training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0" dirty="0"/>
              <a:t>Re-evaluate the fine-tuned model using the held-out testing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0" dirty="0"/>
              <a:t>Develop condition-specific fine-tuned models that can be swapped on-device.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0" dirty="0"/>
              <a:t>Evaluate performance in the context of iPhone-based, local clinical question answering.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EED13-4DDC-68BC-4687-E0D812F8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693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75A88-F8EE-CBB7-1089-428B54B92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BADCA45-8D0B-9B95-235E-78EDFADEE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78" y="3799543"/>
            <a:ext cx="2882900" cy="2692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468701-BB6C-1395-8A66-7F84CF798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8AE4B-EF9C-2756-F0F7-7E3A2BAC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E6AF1-2438-0306-254A-D5EE880D0739}"/>
              </a:ext>
            </a:extLst>
          </p:cNvPr>
          <p:cNvSpPr txBox="1"/>
          <p:nvPr/>
        </p:nvSpPr>
        <p:spPr>
          <a:xfrm>
            <a:off x="400077" y="1295199"/>
            <a:ext cx="834384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500" dirty="0"/>
              <a:t>Wang, D., &amp; Zhang, S. (2024). Large language models in medical and healthcare fields: Applications, advances, and challenges. </a:t>
            </a:r>
            <a:r>
              <a:rPr lang="en-US" sz="1500" i="1" dirty="0"/>
              <a:t>Artificial Intelligence Review, 57</a:t>
            </a:r>
            <a:r>
              <a:rPr lang="en-US" sz="1500" dirty="0"/>
              <a:t>, 299. https://</a:t>
            </a:r>
            <a:r>
              <a:rPr lang="en-US" sz="1500" dirty="0" err="1"/>
              <a:t>doi.org</a:t>
            </a:r>
            <a:r>
              <a:rPr lang="en-US" sz="1500" dirty="0"/>
              <a:t>/10.1007/s10462-024-10921-0 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500" dirty="0"/>
              <a:t>Wang, X., et al. (2025). Empowering edge intelligence: A comprehensive survey on on-device AI models. </a:t>
            </a:r>
            <a:r>
              <a:rPr lang="en-US" sz="1500" i="1" dirty="0"/>
              <a:t>ACM Computing Surveys, 57</a:t>
            </a:r>
            <a:r>
              <a:rPr lang="en-US" sz="1500" dirty="0"/>
              <a:t>(9), 228. </a:t>
            </a:r>
            <a:r>
              <a:rPr lang="en-US" sz="1500" dirty="0">
                <a:hlinkClick r:id="rId3"/>
              </a:rPr>
              <a:t>https://doi.org/10.1145/3724420</a:t>
            </a:r>
            <a:r>
              <a:rPr lang="en-US" sz="1500" dirty="0"/>
              <a:t> 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500" dirty="0"/>
              <a:t>Croxford, E., et al. (2025). Development and validation of the provider documentation summarization quality instrument for large language models. </a:t>
            </a:r>
            <a:r>
              <a:rPr lang="en-US" sz="1500" i="1" dirty="0"/>
              <a:t>Journal of the American Medical Informatics Association, 32</a:t>
            </a:r>
            <a:r>
              <a:rPr lang="en-US" sz="1500" dirty="0"/>
              <a:t>(6), 1050–1060. https://</a:t>
            </a:r>
            <a:r>
              <a:rPr lang="en-US" sz="1500" dirty="0" err="1"/>
              <a:t>doi.org</a:t>
            </a:r>
            <a:r>
              <a:rPr lang="en-US" sz="1500" dirty="0"/>
              <a:t>/10.1093/</a:t>
            </a:r>
            <a:r>
              <a:rPr lang="en-US" sz="1500" dirty="0" err="1"/>
              <a:t>jamia</a:t>
            </a:r>
            <a:r>
              <a:rPr lang="en-US" sz="1500" dirty="0"/>
              <a:t>/ocaf068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88F3A1C-A8FA-A4E3-2DD9-A98691E52B59}"/>
              </a:ext>
            </a:extLst>
          </p:cNvPr>
          <p:cNvSpPr txBox="1">
            <a:spLocks/>
          </p:cNvSpPr>
          <p:nvPr/>
        </p:nvSpPr>
        <p:spPr>
          <a:xfrm>
            <a:off x="400077" y="3052862"/>
            <a:ext cx="8590221" cy="1143000"/>
          </a:xfrm>
          <a:prstGeom prst="rect">
            <a:avLst/>
          </a:prstGeom>
        </p:spPr>
        <p:txBody>
          <a:bodyPr vert="horz" lIns="73152" tIns="45720" rIns="91440" bIns="45720" rtlCol="0" anchor="b" anchorCtr="0">
            <a:no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GitHub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AAB47A-B7DB-B1AC-5114-E761AB38CA08}"/>
              </a:ext>
            </a:extLst>
          </p:cNvPr>
          <p:cNvSpPr txBox="1"/>
          <p:nvPr/>
        </p:nvSpPr>
        <p:spPr>
          <a:xfrm>
            <a:off x="3409075" y="4397564"/>
            <a:ext cx="4915117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/>
              <a:t>Scan to access the GitHub repository.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dirty="0"/>
              <a:t>Repository includes: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dirty="0"/>
              <a:t>Synthetic chart data &amp; evaluation questions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dirty="0"/>
              <a:t>Model responses and evaluation results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dirty="0"/>
              <a:t>Statistical analysis and visualization code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dirty="0"/>
              <a:t>Project documentation and references</a:t>
            </a:r>
          </a:p>
        </p:txBody>
      </p:sp>
    </p:spTree>
    <p:extLst>
      <p:ext uri="{BB962C8B-B14F-4D97-AF65-F5344CB8AC3E}">
        <p14:creationId xmlns:p14="http://schemas.microsoft.com/office/powerpoint/2010/main" val="3270377117"/>
      </p:ext>
    </p:extLst>
  </p:cSld>
  <p:clrMapOvr>
    <a:masterClrMapping/>
  </p:clrMapOvr>
</p:sld>
</file>

<file path=ppt/theme/theme1.xml><?xml version="1.0" encoding="utf-8"?>
<a:theme xmlns:a="http://schemas.openxmlformats.org/drawingml/2006/main" name="NM-Presentation">
  <a:themeElements>
    <a:clrScheme name="NorthwesternMedicine-120924">
      <a:dk1>
        <a:srgbClr val="000000"/>
      </a:dk1>
      <a:lt1>
        <a:srgbClr val="FFFFFF"/>
      </a:lt1>
      <a:dk2>
        <a:srgbClr val="4E2A83"/>
      </a:dk2>
      <a:lt2>
        <a:srgbClr val="E3E0EE"/>
      </a:lt2>
      <a:accent1>
        <a:srgbClr val="401F68"/>
      </a:accent1>
      <a:accent2>
        <a:srgbClr val="EF553F"/>
      </a:accent2>
      <a:accent3>
        <a:srgbClr val="FFC520"/>
      </a:accent3>
      <a:accent4>
        <a:srgbClr val="008656"/>
      </a:accent4>
      <a:accent5>
        <a:srgbClr val="0D2C6C"/>
      </a:accent5>
      <a:accent6>
        <a:srgbClr val="5091CD"/>
      </a:accent6>
      <a:hlink>
        <a:srgbClr val="684C96"/>
      </a:hlink>
      <a:folHlink>
        <a:srgbClr val="836EAA"/>
      </a:folHlink>
    </a:clrScheme>
    <a:fontScheme name="TeleNeo">
      <a:majorFont>
        <a:latin typeface="Century Gothic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ptos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13000"/>
          </a:lnSpc>
          <a:spcAft>
            <a:spcPts val="600"/>
          </a:spcAft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M_PPT-Template_Standard_120924" id="{9D3CA7BD-3BD3-614C-9FE9-DC48ACBE8771}" vid="{DEFE7AE8-CDB9-314F-81CA-1C681D8BF1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bOrder xmlns="559580b6-00d7-43fe-be61-2ff7ed70d44c" xsi:nil="true"/>
    <lcf76f155ced4ddcb4097134ff3c332f xmlns="559580b6-00d7-43fe-be61-2ff7ed70d44c">
      <Terms xmlns="http://schemas.microsoft.com/office/infopath/2007/PartnerControls"/>
    </lcf76f155ced4ddcb4097134ff3c332f>
    <TaxCatchAll xmlns="3d7d992b-1e34-4fc7-927d-971cfe13e34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5CDB3C9869154DB43348B7905FC03A" ma:contentTypeVersion="18" ma:contentTypeDescription="Create a new document." ma:contentTypeScope="" ma:versionID="21002d4f151b6702168a5315abf42f2f">
  <xsd:schema xmlns:xsd="http://www.w3.org/2001/XMLSchema" xmlns:xs="http://www.w3.org/2001/XMLSchema" xmlns:p="http://schemas.microsoft.com/office/2006/metadata/properties" xmlns:ns2="559580b6-00d7-43fe-be61-2ff7ed70d44c" xmlns:ns3="3d7d992b-1e34-4fc7-927d-971cfe13e34f" targetNamespace="http://schemas.microsoft.com/office/2006/metadata/properties" ma:root="true" ma:fieldsID="7a157fcbffd0ba84273a9f16e964da2d" ns2:_="" ns3:_="">
    <xsd:import namespace="559580b6-00d7-43fe-be61-2ff7ed70d44c"/>
    <xsd:import namespace="3d7d992b-1e34-4fc7-927d-971cfe13e3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TabOrde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9580b6-00d7-43fe-be61-2ff7ed70d4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TabOrder" ma:index="19" nillable="true" ma:displayName="TabOrder" ma:internalName="TabOrder">
      <xsd:simpleType>
        <xsd:restriction base="dms:Number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e4503a0-b685-4c11-a324-e364750599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7d992b-1e34-4fc7-927d-971cfe13e34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6edd966-5fdd-4312-9fda-218d9769bf26}" ma:internalName="TaxCatchAll" ma:showField="CatchAllData" ma:web="3d7d992b-1e34-4fc7-927d-971cfe13e34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60A298-8AAC-4E7D-B1E9-D5AB3C71F7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AF965A-CCC1-4ACE-8407-B1D906A325F5}">
  <ds:schemaRefs>
    <ds:schemaRef ds:uri="http://schemas.microsoft.com/office/2006/metadata/properties"/>
    <ds:schemaRef ds:uri="http://schemas.microsoft.com/office/infopath/2007/PartnerControls"/>
    <ds:schemaRef ds:uri="559580b6-00d7-43fe-be61-2ff7ed70d44c"/>
    <ds:schemaRef ds:uri="3d7d992b-1e34-4fc7-927d-971cfe13e34f"/>
  </ds:schemaRefs>
</ds:datastoreItem>
</file>

<file path=customXml/itemProps3.xml><?xml version="1.0" encoding="utf-8"?>
<ds:datastoreItem xmlns:ds="http://schemas.openxmlformats.org/officeDocument/2006/customXml" ds:itemID="{B03E46A9-3921-485E-9C13-39297F15BC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9580b6-00d7-43fe-be61-2ff7ed70d44c"/>
    <ds:schemaRef ds:uri="3d7d992b-1e34-4fc7-927d-971cfe13e3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1b86c14-7a6f-495c-8ad3-202986669410}" enabled="1" method="Privileged" siteId="{2596038f-3ea4-4f0c-aed1-066eb6544c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NM-Presentation</Template>
  <TotalTime>1455</TotalTime>
  <Words>1015</Words>
  <Application>Microsoft Macintosh PowerPoint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Light</vt:lpstr>
      <vt:lpstr>Arial</vt:lpstr>
      <vt:lpstr>Century Gothic</vt:lpstr>
      <vt:lpstr>NM-Presentation</vt:lpstr>
      <vt:lpstr>Evaluation of Local Language Models for Medical Record Analysis</vt:lpstr>
      <vt:lpstr>Introduction</vt:lpstr>
      <vt:lpstr>Aim</vt:lpstr>
      <vt:lpstr> Methods: Testing Dataset Creation</vt:lpstr>
      <vt:lpstr>Methods: Model Evaluation</vt:lpstr>
      <vt:lpstr>Results: Overall Response Quality</vt:lpstr>
      <vt:lpstr>Results: Effect of Question Difficulty</vt:lpstr>
      <vt:lpstr>Results - Accuracy by Model</vt:lpstr>
      <vt:lpstr>Qualitative Example</vt:lpstr>
      <vt:lpstr>Conclusion</vt:lpstr>
      <vt:lpstr>Future Directions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Salinas, Veronika</dc:creator>
  <cp:lastModifiedBy>Cherish Uwandu</cp:lastModifiedBy>
  <cp:revision>11</cp:revision>
  <dcterms:created xsi:type="dcterms:W3CDTF">2024-12-10T21:21:23Z</dcterms:created>
  <dcterms:modified xsi:type="dcterms:W3CDTF">2026-08-12T18:34:20Z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b86c14-7a6f-495c-8ad3-202986669410_Enabled">
    <vt:lpwstr>true</vt:lpwstr>
  </property>
  <property fmtid="{D5CDD505-2E9C-101B-9397-08002B2CF9AE}" pid="3" name="MSIP_Label_b1b86c14-7a6f-495c-8ad3-202986669410_SetDate">
    <vt:lpwstr>2024-12-10T21:25:07Z</vt:lpwstr>
  </property>
  <property fmtid="{D5CDD505-2E9C-101B-9397-08002B2CF9AE}" pid="4" name="MSIP_Label_b1b86c14-7a6f-495c-8ad3-202986669410_Method">
    <vt:lpwstr>Privileged</vt:lpwstr>
  </property>
  <property fmtid="{D5CDD505-2E9C-101B-9397-08002B2CF9AE}" pid="5" name="MSIP_Label_b1b86c14-7a6f-495c-8ad3-202986669410_Name">
    <vt:lpwstr>Internal</vt:lpwstr>
  </property>
  <property fmtid="{D5CDD505-2E9C-101B-9397-08002B2CF9AE}" pid="6" name="MSIP_Label_b1b86c14-7a6f-495c-8ad3-202986669410_SiteId">
    <vt:lpwstr>2596038f-3ea4-4f0c-aed1-066eb6544c3b</vt:lpwstr>
  </property>
  <property fmtid="{D5CDD505-2E9C-101B-9397-08002B2CF9AE}" pid="7" name="MSIP_Label_b1b86c14-7a6f-495c-8ad3-202986669410_ActionId">
    <vt:lpwstr>ea10e404-b847-4295-b464-702edd7acfb3</vt:lpwstr>
  </property>
  <property fmtid="{D5CDD505-2E9C-101B-9397-08002B2CF9AE}" pid="8" name="MSIP_Label_b1b86c14-7a6f-495c-8ad3-202986669410_ContentBits">
    <vt:lpwstr>0</vt:lpwstr>
  </property>
  <property fmtid="{D5CDD505-2E9C-101B-9397-08002B2CF9AE}" pid="9" name="ContentTypeId">
    <vt:lpwstr>0x010100945CDB3C9869154DB43348B7905FC03A</vt:lpwstr>
  </property>
</Properties>
</file>